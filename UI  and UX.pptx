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S Qamus Bold" charset="1" panose="00000800000000000000"/>
      <p:regular r:id="rId16"/>
    </p:embeddedFont>
    <p:embeddedFont>
      <p:font typeface="TS Qamu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729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67008" y="3640051"/>
            <a:ext cx="13753985" cy="2686589"/>
          </a:xfrm>
          <a:prstGeom prst="rect">
            <a:avLst/>
          </a:prstGeom>
        </p:spPr>
        <p:txBody>
          <a:bodyPr anchor="t" rtlCol="false" tIns="0" lIns="0" bIns="0" rIns="0">
            <a:spAutoFit/>
          </a:bodyPr>
          <a:lstStyle/>
          <a:p>
            <a:pPr algn="ctr" marL="0" indent="0" lvl="0">
              <a:lnSpc>
                <a:spcPts val="10483"/>
              </a:lnSpc>
            </a:pPr>
            <a:r>
              <a:rPr lang="en-US" b="true" sz="9617">
                <a:solidFill>
                  <a:srgbClr val="18899D"/>
                </a:solidFill>
                <a:latin typeface="TS Qamus Bold"/>
                <a:ea typeface="TS Qamus Bold"/>
                <a:cs typeface="TS Qamus Bold"/>
                <a:sym typeface="TS Qamus Bold"/>
              </a:rPr>
              <a:t>UI ELEMENTS &amp; UX ANALYSIS</a:t>
            </a:r>
          </a:p>
        </p:txBody>
      </p:sp>
      <p:sp>
        <p:nvSpPr>
          <p:cNvPr name="TextBox 4" id="4"/>
          <p:cNvSpPr txBox="true"/>
          <p:nvPr/>
        </p:nvSpPr>
        <p:spPr>
          <a:xfrm rot="0">
            <a:off x="4449213" y="6361927"/>
            <a:ext cx="9389573" cy="458083"/>
          </a:xfrm>
          <a:prstGeom prst="rect">
            <a:avLst/>
          </a:prstGeom>
        </p:spPr>
        <p:txBody>
          <a:bodyPr anchor="t" rtlCol="false" tIns="0" lIns="0" bIns="0" rIns="0">
            <a:spAutoFit/>
          </a:bodyPr>
          <a:lstStyle/>
          <a:p>
            <a:pPr algn="ctr" marL="0" indent="0" lvl="0">
              <a:lnSpc>
                <a:spcPts val="3425"/>
              </a:lnSpc>
            </a:pPr>
            <a:r>
              <a:rPr lang="en-US" sz="3142">
                <a:solidFill>
                  <a:srgbClr val="18899D"/>
                </a:solidFill>
                <a:latin typeface="TS Qamus"/>
                <a:ea typeface="TS Qamus"/>
                <a:cs typeface="TS Qamus"/>
                <a:sym typeface="TS Qamus"/>
              </a:rPr>
              <a:t>presented by Akash</a:t>
            </a:r>
          </a:p>
        </p:txBody>
      </p:sp>
      <p:sp>
        <p:nvSpPr>
          <p:cNvPr name="Freeform 5" id="5"/>
          <p:cNvSpPr/>
          <p:nvPr/>
        </p:nvSpPr>
        <p:spPr>
          <a:xfrm flipH="false" flipV="false" rot="0">
            <a:off x="-2865987" y="8357346"/>
            <a:ext cx="7315200" cy="2673373"/>
          </a:xfrm>
          <a:custGeom>
            <a:avLst/>
            <a:gdLst/>
            <a:ahLst/>
            <a:cxnLst/>
            <a:rect r="r" b="b" t="t" l="l"/>
            <a:pathLst>
              <a:path h="2673373" w="7315200">
                <a:moveTo>
                  <a:pt x="0" y="0"/>
                </a:moveTo>
                <a:lnTo>
                  <a:pt x="7315200" y="0"/>
                </a:lnTo>
                <a:lnTo>
                  <a:pt x="7315200" y="2673373"/>
                </a:lnTo>
                <a:lnTo>
                  <a:pt x="0" y="267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144500" y="-449392"/>
            <a:ext cx="7315200" cy="2673373"/>
          </a:xfrm>
          <a:custGeom>
            <a:avLst/>
            <a:gdLst/>
            <a:ahLst/>
            <a:cxnLst/>
            <a:rect r="r" b="b" t="t" l="l"/>
            <a:pathLst>
              <a:path h="2673373" w="7315200">
                <a:moveTo>
                  <a:pt x="0" y="0"/>
                </a:moveTo>
                <a:lnTo>
                  <a:pt x="7315200" y="0"/>
                </a:lnTo>
                <a:lnTo>
                  <a:pt x="7315200" y="2673374"/>
                </a:lnTo>
                <a:lnTo>
                  <a:pt x="0" y="267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77411" y="8765271"/>
            <a:ext cx="2143604" cy="986058"/>
          </a:xfrm>
          <a:custGeom>
            <a:avLst/>
            <a:gdLst/>
            <a:ahLst/>
            <a:cxnLst/>
            <a:rect r="r" b="b" t="t" l="l"/>
            <a:pathLst>
              <a:path h="986058" w="2143604">
                <a:moveTo>
                  <a:pt x="0" y="0"/>
                </a:moveTo>
                <a:lnTo>
                  <a:pt x="2143604" y="0"/>
                </a:lnTo>
                <a:lnTo>
                  <a:pt x="2143604" y="986058"/>
                </a:lnTo>
                <a:lnTo>
                  <a:pt x="0" y="986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2433881" y="887295"/>
            <a:ext cx="2143604" cy="986058"/>
          </a:xfrm>
          <a:custGeom>
            <a:avLst/>
            <a:gdLst/>
            <a:ahLst/>
            <a:cxnLst/>
            <a:rect r="r" b="b" t="t" l="l"/>
            <a:pathLst>
              <a:path h="986058" w="2143604">
                <a:moveTo>
                  <a:pt x="2143604" y="0"/>
                </a:moveTo>
                <a:lnTo>
                  <a:pt x="0" y="0"/>
                </a:lnTo>
                <a:lnTo>
                  <a:pt x="0" y="986058"/>
                </a:lnTo>
                <a:lnTo>
                  <a:pt x="2143604" y="986058"/>
                </a:lnTo>
                <a:lnTo>
                  <a:pt x="2143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TWITTER</a:t>
            </a:r>
          </a:p>
        </p:txBody>
      </p:sp>
      <p:sp>
        <p:nvSpPr>
          <p:cNvPr name="Freeform 6" id="6"/>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40571" y="4291442"/>
            <a:ext cx="6857250" cy="4167007"/>
            <a:chOff x="0" y="0"/>
            <a:chExt cx="609661" cy="370478"/>
          </a:xfrm>
        </p:grpSpPr>
        <p:sp>
          <p:nvSpPr>
            <p:cNvPr name="Freeform 8" id="8"/>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9" id="9"/>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595614" y="4652508"/>
            <a:ext cx="5947162" cy="3454375"/>
          </a:xfrm>
          <a:prstGeom prst="rect">
            <a:avLst/>
          </a:prstGeom>
        </p:spPr>
        <p:txBody>
          <a:bodyPr anchor="t" rtlCol="false" tIns="0" lIns="0" bIns="0" rIns="0">
            <a:spAutoFit/>
          </a:bodyPr>
          <a:lstStyle/>
          <a:p>
            <a:pPr algn="l" marL="0" indent="0" lvl="0">
              <a:lnSpc>
                <a:spcPts val="2723"/>
              </a:lnSpc>
            </a:pPr>
            <a:r>
              <a:rPr lang="en-US" sz="2498">
                <a:solidFill>
                  <a:srgbClr val="FFFFFF"/>
                </a:solidFill>
                <a:latin typeface="TS Qamus"/>
                <a:ea typeface="TS Qamus"/>
                <a:cs typeface="TS Qamus"/>
                <a:sym typeface="TS Qamus"/>
              </a:rPr>
              <a:t>UI ELEMENTS</a:t>
            </a:r>
          </a:p>
          <a:p>
            <a:pPr algn="l" marL="0" indent="0" lvl="0">
              <a:lnSpc>
                <a:spcPts val="2723"/>
              </a:lnSpc>
            </a:pPr>
            <a:r>
              <a:rPr lang="en-US" sz="2498">
                <a:solidFill>
                  <a:srgbClr val="FFFFFF"/>
                </a:solidFill>
                <a:latin typeface="TS Qamus"/>
                <a:ea typeface="TS Qamus"/>
                <a:cs typeface="TS Qamus"/>
                <a:sym typeface="TS Qamus"/>
              </a:rPr>
              <a:t>• Feed / Timeline</a:t>
            </a:r>
          </a:p>
          <a:p>
            <a:pPr algn="l" marL="0" indent="0" lvl="0">
              <a:lnSpc>
                <a:spcPts val="2723"/>
              </a:lnSpc>
            </a:pPr>
            <a:r>
              <a:rPr lang="en-US" sz="2498">
                <a:solidFill>
                  <a:srgbClr val="FFFFFF"/>
                </a:solidFill>
                <a:latin typeface="TS Qamus"/>
                <a:ea typeface="TS Qamus"/>
                <a:cs typeface="TS Qamus"/>
                <a:sym typeface="TS Qamus"/>
              </a:rPr>
              <a:t>• Compose Tweet Button</a:t>
            </a:r>
          </a:p>
          <a:p>
            <a:pPr algn="l" marL="0" indent="0" lvl="0">
              <a:lnSpc>
                <a:spcPts val="2723"/>
              </a:lnSpc>
            </a:pPr>
            <a:r>
              <a:rPr lang="en-US" sz="2498">
                <a:solidFill>
                  <a:srgbClr val="FFFFFF"/>
                </a:solidFill>
                <a:latin typeface="TS Qamus"/>
                <a:ea typeface="TS Qamus"/>
                <a:cs typeface="TS Qamus"/>
                <a:sym typeface="TS Qamus"/>
              </a:rPr>
              <a:t>• Navigation Tabs (Home, Search, Notifications, Messages)</a:t>
            </a:r>
          </a:p>
          <a:p>
            <a:pPr algn="l" marL="0" indent="0" lvl="0">
              <a:lnSpc>
                <a:spcPts val="2723"/>
              </a:lnSpc>
            </a:pPr>
            <a:r>
              <a:rPr lang="en-US" sz="2498">
                <a:solidFill>
                  <a:srgbClr val="FFFFFF"/>
                </a:solidFill>
                <a:latin typeface="TS Qamus"/>
                <a:ea typeface="TS Qamus"/>
                <a:cs typeface="TS Qamus"/>
                <a:sym typeface="TS Qamus"/>
              </a:rPr>
              <a:t>• Profile Icons &amp; Avatars</a:t>
            </a:r>
          </a:p>
          <a:p>
            <a:pPr algn="l" marL="0" indent="0" lvl="0">
              <a:lnSpc>
                <a:spcPts val="2723"/>
              </a:lnSpc>
            </a:pPr>
            <a:r>
              <a:rPr lang="en-US" sz="2498">
                <a:solidFill>
                  <a:srgbClr val="FFFFFF"/>
                </a:solidFill>
                <a:latin typeface="TS Qamus"/>
                <a:ea typeface="TS Qamus"/>
                <a:cs typeface="TS Qamus"/>
                <a:sym typeface="TS Qamus"/>
              </a:rPr>
              <a:t>• Like, Retweet &amp; Reply Buttons</a:t>
            </a:r>
          </a:p>
          <a:p>
            <a:pPr algn="l" marL="0" indent="0" lvl="0">
              <a:lnSpc>
                <a:spcPts val="2723"/>
              </a:lnSpc>
            </a:pPr>
            <a:r>
              <a:rPr lang="en-US" sz="2498">
                <a:solidFill>
                  <a:srgbClr val="FFFFFF"/>
                </a:solidFill>
                <a:latin typeface="TS Qamus"/>
                <a:ea typeface="TS Qamus"/>
                <a:cs typeface="TS Qamus"/>
                <a:sym typeface="TS Qamus"/>
              </a:rPr>
              <a:t>• Hashtag &amp; Mention Links</a:t>
            </a:r>
          </a:p>
          <a:p>
            <a:pPr algn="l" marL="0" indent="0" lvl="0">
              <a:lnSpc>
                <a:spcPts val="2723"/>
              </a:lnSpc>
            </a:pPr>
            <a:r>
              <a:rPr lang="en-US" sz="2498">
                <a:solidFill>
                  <a:srgbClr val="FFFFFF"/>
                </a:solidFill>
                <a:latin typeface="TS Qamus"/>
                <a:ea typeface="TS Qamus"/>
                <a:cs typeface="TS Qamus"/>
                <a:sym typeface="TS Qamus"/>
              </a:rPr>
              <a:t>• Media Cards (Image/Video)</a:t>
            </a:r>
          </a:p>
          <a:p>
            <a:pPr algn="l" marL="0" indent="0" lvl="0">
              <a:lnSpc>
                <a:spcPts val="2723"/>
              </a:lnSpc>
            </a:pPr>
            <a:r>
              <a:rPr lang="en-US" sz="2498">
                <a:solidFill>
                  <a:srgbClr val="FFFFFF"/>
                </a:solidFill>
                <a:latin typeface="TS Qamus"/>
                <a:ea typeface="TS Qamus"/>
                <a:cs typeface="TS Qamus"/>
                <a:sym typeface="TS Qamus"/>
              </a:rPr>
              <a:t>• Trending Topics Panel</a:t>
            </a:r>
          </a:p>
        </p:txBody>
      </p:sp>
      <p:grpSp>
        <p:nvGrpSpPr>
          <p:cNvPr name="Group 11" id="11"/>
          <p:cNvGrpSpPr/>
          <p:nvPr/>
        </p:nvGrpSpPr>
        <p:grpSpPr>
          <a:xfrm rot="0">
            <a:off x="9290180" y="4291442"/>
            <a:ext cx="6857250" cy="4167007"/>
            <a:chOff x="0" y="0"/>
            <a:chExt cx="609661" cy="370478"/>
          </a:xfrm>
        </p:grpSpPr>
        <p:sp>
          <p:nvSpPr>
            <p:cNvPr name="Freeform 12" id="12"/>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13" id="13"/>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9745224" y="4652508"/>
            <a:ext cx="5947162" cy="3454375"/>
          </a:xfrm>
          <a:prstGeom prst="rect">
            <a:avLst/>
          </a:prstGeom>
        </p:spPr>
        <p:txBody>
          <a:bodyPr anchor="t" rtlCol="false" tIns="0" lIns="0" bIns="0" rIns="0">
            <a:spAutoFit/>
          </a:bodyPr>
          <a:lstStyle/>
          <a:p>
            <a:pPr algn="l" marL="0" indent="0" lvl="0">
              <a:lnSpc>
                <a:spcPts val="2723"/>
              </a:lnSpc>
            </a:pPr>
            <a:r>
              <a:rPr lang="en-US" sz="2498">
                <a:solidFill>
                  <a:srgbClr val="FFFFFF"/>
                </a:solidFill>
                <a:latin typeface="TS Qamus"/>
                <a:ea typeface="TS Qamus"/>
                <a:cs typeface="TS Qamus"/>
                <a:sym typeface="TS Qamus"/>
              </a:rPr>
              <a:t>UX FEATURES</a:t>
            </a:r>
          </a:p>
          <a:p>
            <a:pPr algn="l" marL="0" indent="0" lvl="0">
              <a:lnSpc>
                <a:spcPts val="2723"/>
              </a:lnSpc>
            </a:pPr>
            <a:r>
              <a:rPr lang="en-US" sz="2498">
                <a:solidFill>
                  <a:srgbClr val="FFFFFF"/>
                </a:solidFill>
                <a:latin typeface="TS Qamus"/>
                <a:ea typeface="TS Qamus"/>
                <a:cs typeface="TS Qamus"/>
                <a:sym typeface="TS Qamus"/>
              </a:rPr>
              <a:t>• Infinite Scroll Feed</a:t>
            </a:r>
          </a:p>
          <a:p>
            <a:pPr algn="l" marL="0" indent="0" lvl="0">
              <a:lnSpc>
                <a:spcPts val="2723"/>
              </a:lnSpc>
            </a:pPr>
            <a:r>
              <a:rPr lang="en-US" sz="2498">
                <a:solidFill>
                  <a:srgbClr val="FFFFFF"/>
                </a:solidFill>
                <a:latin typeface="TS Qamus"/>
                <a:ea typeface="TS Qamus"/>
                <a:cs typeface="TS Qamus"/>
                <a:sym typeface="TS Qamus"/>
              </a:rPr>
              <a:t>• Real-Time Tweet Updates</a:t>
            </a:r>
          </a:p>
          <a:p>
            <a:pPr algn="l" marL="0" indent="0" lvl="0">
              <a:lnSpc>
                <a:spcPts val="2723"/>
              </a:lnSpc>
            </a:pPr>
            <a:r>
              <a:rPr lang="en-US" sz="2498">
                <a:solidFill>
                  <a:srgbClr val="FFFFFF"/>
                </a:solidFill>
                <a:latin typeface="TS Qamus"/>
                <a:ea typeface="TS Qamus"/>
                <a:cs typeface="TS Qamus"/>
                <a:sym typeface="TS Qamus"/>
              </a:rPr>
              <a:t>• Engagement Features (Likes, Retweets)</a:t>
            </a:r>
          </a:p>
          <a:p>
            <a:pPr algn="l" marL="0" indent="0" lvl="0">
              <a:lnSpc>
                <a:spcPts val="2723"/>
              </a:lnSpc>
            </a:pPr>
            <a:r>
              <a:rPr lang="en-US" sz="2498">
                <a:solidFill>
                  <a:srgbClr val="FFFFFF"/>
                </a:solidFill>
                <a:latin typeface="TS Qamus"/>
                <a:ea typeface="TS Qamus"/>
                <a:cs typeface="TS Qamus"/>
                <a:sym typeface="TS Qamus"/>
              </a:rPr>
              <a:t>• Push Notifications</a:t>
            </a:r>
          </a:p>
          <a:p>
            <a:pPr algn="l" marL="0" indent="0" lvl="0">
              <a:lnSpc>
                <a:spcPts val="2723"/>
              </a:lnSpc>
            </a:pPr>
            <a:r>
              <a:rPr lang="en-US" sz="2498">
                <a:solidFill>
                  <a:srgbClr val="FFFFFF"/>
                </a:solidFill>
                <a:latin typeface="TS Qamus"/>
                <a:ea typeface="TS Qamus"/>
                <a:cs typeface="TS Qamus"/>
                <a:sym typeface="TS Qamus"/>
              </a:rPr>
              <a:t>• Explore &amp; Trending Discovery</a:t>
            </a:r>
          </a:p>
          <a:p>
            <a:pPr algn="l" marL="0" indent="0" lvl="0">
              <a:lnSpc>
                <a:spcPts val="2723"/>
              </a:lnSpc>
            </a:pPr>
            <a:r>
              <a:rPr lang="en-US" sz="2498">
                <a:solidFill>
                  <a:srgbClr val="FFFFFF"/>
                </a:solidFill>
                <a:latin typeface="TS Qamus"/>
                <a:ea typeface="TS Qamus"/>
                <a:cs typeface="TS Qamus"/>
                <a:sym typeface="TS Qamus"/>
              </a:rPr>
              <a:t>• Thread Conversations</a:t>
            </a:r>
          </a:p>
          <a:p>
            <a:pPr algn="l" marL="0" indent="0" lvl="0">
              <a:lnSpc>
                <a:spcPts val="2723"/>
              </a:lnSpc>
            </a:pPr>
            <a:r>
              <a:rPr lang="en-US" sz="2498">
                <a:solidFill>
                  <a:srgbClr val="FFFFFF"/>
                </a:solidFill>
                <a:latin typeface="TS Qamus"/>
                <a:ea typeface="TS Qamus"/>
                <a:cs typeface="TS Qamus"/>
                <a:sym typeface="TS Qamus"/>
              </a:rPr>
              <a:t>• Direct Messaging Flow</a:t>
            </a:r>
          </a:p>
          <a:p>
            <a:pPr algn="l" marL="0" indent="0" lvl="0">
              <a:lnSpc>
                <a:spcPts val="2723"/>
              </a:lnSpc>
            </a:pPr>
            <a:r>
              <a:rPr lang="en-US" sz="2498">
                <a:solidFill>
                  <a:srgbClr val="FFFFFF"/>
                </a:solidFill>
                <a:latin typeface="TS Qamus"/>
                <a:ea typeface="TS Qamus"/>
                <a:cs typeface="TS Qamus"/>
                <a:sym typeface="TS Qamus"/>
              </a:rPr>
              <a:t>• Minimal Cognitive Load Design</a:t>
            </a:r>
          </a:p>
        </p:txBody>
      </p:sp>
      <p:sp>
        <p:nvSpPr>
          <p:cNvPr name="Freeform 15" id="15"/>
          <p:cNvSpPr/>
          <p:nvPr/>
        </p:nvSpPr>
        <p:spPr>
          <a:xfrm flipH="false" flipV="false" rot="0">
            <a:off x="4675586"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272000"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CHROME</a:t>
            </a:r>
          </a:p>
        </p:txBody>
      </p:sp>
      <p:sp>
        <p:nvSpPr>
          <p:cNvPr name="Freeform 6" id="6"/>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40571" y="4291442"/>
            <a:ext cx="6857250" cy="4167007"/>
            <a:chOff x="0" y="0"/>
            <a:chExt cx="609661" cy="370478"/>
          </a:xfrm>
        </p:grpSpPr>
        <p:sp>
          <p:nvSpPr>
            <p:cNvPr name="Freeform 8" id="8"/>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9" id="9"/>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595614" y="4662033"/>
            <a:ext cx="5947162" cy="2978144"/>
          </a:xfrm>
          <a:prstGeom prst="rect">
            <a:avLst/>
          </a:prstGeom>
        </p:spPr>
        <p:txBody>
          <a:bodyPr anchor="t" rtlCol="false" tIns="0" lIns="0" bIns="0" rIns="0">
            <a:spAutoFit/>
          </a:bodyPr>
          <a:lstStyle/>
          <a:p>
            <a:pPr algn="l" marL="0" indent="0" lvl="0">
              <a:lnSpc>
                <a:spcPts val="1981"/>
              </a:lnSpc>
            </a:pPr>
            <a:r>
              <a:rPr lang="en-US" sz="1817">
                <a:solidFill>
                  <a:srgbClr val="FFFFFF"/>
                </a:solidFill>
                <a:latin typeface="TS Qamus"/>
                <a:ea typeface="TS Qamus"/>
                <a:cs typeface="TS Qamus"/>
                <a:sym typeface="TS Qamus"/>
              </a:rPr>
              <a:t>UI ELEMENTS</a:t>
            </a:r>
          </a:p>
          <a:p>
            <a:pPr algn="l" marL="0" indent="0" lvl="0">
              <a:lnSpc>
                <a:spcPts val="1981"/>
              </a:lnSpc>
            </a:pPr>
            <a:r>
              <a:rPr lang="en-US" sz="1817">
                <a:solidFill>
                  <a:srgbClr val="FFFFFF"/>
                </a:solidFill>
                <a:latin typeface="TS Qamus"/>
                <a:ea typeface="TS Qamus"/>
                <a:cs typeface="TS Qamus"/>
                <a:sym typeface="TS Qamus"/>
              </a:rPr>
              <a:t>• Address Bar (Omnibox): Search &amp; URL input combined</a:t>
            </a:r>
          </a:p>
          <a:p>
            <a:pPr algn="l" marL="0" indent="0" lvl="0">
              <a:lnSpc>
                <a:spcPts val="1981"/>
              </a:lnSpc>
            </a:pPr>
            <a:r>
              <a:rPr lang="en-US" sz="1817">
                <a:solidFill>
                  <a:srgbClr val="FFFFFF"/>
                </a:solidFill>
                <a:latin typeface="TS Qamus"/>
                <a:ea typeface="TS Qamus"/>
                <a:cs typeface="TS Qamus"/>
                <a:sym typeface="TS Qamus"/>
              </a:rPr>
              <a:t>• Tabs: Multi-tab browsing with tab groups</a:t>
            </a:r>
          </a:p>
          <a:p>
            <a:pPr algn="l" marL="0" indent="0" lvl="0">
              <a:lnSpc>
                <a:spcPts val="1981"/>
              </a:lnSpc>
            </a:pPr>
            <a:r>
              <a:rPr lang="en-US" sz="1817">
                <a:solidFill>
                  <a:srgbClr val="FFFFFF"/>
                </a:solidFill>
                <a:latin typeface="TS Qamus"/>
                <a:ea typeface="TS Qamus"/>
                <a:cs typeface="TS Qamus"/>
                <a:sym typeface="TS Qamus"/>
              </a:rPr>
              <a:t>• Bookmarks Bar: Quick access to saved sites</a:t>
            </a:r>
          </a:p>
          <a:p>
            <a:pPr algn="l" marL="0" indent="0" lvl="0">
              <a:lnSpc>
                <a:spcPts val="1981"/>
              </a:lnSpc>
            </a:pPr>
            <a:r>
              <a:rPr lang="en-US" sz="1817">
                <a:solidFill>
                  <a:srgbClr val="FFFFFF"/>
                </a:solidFill>
                <a:latin typeface="TS Qamus"/>
                <a:ea typeface="TS Qamus"/>
                <a:cs typeface="TS Qamus"/>
                <a:sym typeface="TS Qamus"/>
              </a:rPr>
              <a:t>• Extensions Toolbar: Add-on icons for extra features</a:t>
            </a:r>
          </a:p>
          <a:p>
            <a:pPr algn="l" marL="0" indent="0" lvl="0">
              <a:lnSpc>
                <a:spcPts val="1981"/>
              </a:lnSpc>
            </a:pPr>
            <a:r>
              <a:rPr lang="en-US" sz="1817">
                <a:solidFill>
                  <a:srgbClr val="FFFFFF"/>
                </a:solidFill>
                <a:latin typeface="TS Qamus"/>
                <a:ea typeface="TS Qamus"/>
                <a:cs typeface="TS Qamus"/>
                <a:sym typeface="TS Qamus"/>
              </a:rPr>
              <a:t>• Navigation Buttons: Back, Forward, Reload, Home</a:t>
            </a:r>
          </a:p>
          <a:p>
            <a:pPr algn="l" marL="0" indent="0" lvl="0">
              <a:lnSpc>
                <a:spcPts val="1981"/>
              </a:lnSpc>
            </a:pPr>
            <a:r>
              <a:rPr lang="en-US" sz="1817">
                <a:solidFill>
                  <a:srgbClr val="FFFFFF"/>
                </a:solidFill>
                <a:latin typeface="TS Qamus"/>
                <a:ea typeface="TS Qamus"/>
                <a:cs typeface="TS Qamus"/>
                <a:sym typeface="TS Qamus"/>
              </a:rPr>
              <a:t>• Settings Menu: Three-dot menu for browser controls</a:t>
            </a:r>
          </a:p>
          <a:p>
            <a:pPr algn="l" marL="0" indent="0" lvl="0">
              <a:lnSpc>
                <a:spcPts val="1981"/>
              </a:lnSpc>
            </a:pPr>
            <a:r>
              <a:rPr lang="en-US" sz="1817">
                <a:solidFill>
                  <a:srgbClr val="FFFFFF"/>
                </a:solidFill>
                <a:latin typeface="TS Qamus"/>
                <a:ea typeface="TS Qamus"/>
                <a:cs typeface="TS Qamus"/>
                <a:sym typeface="TS Qamus"/>
              </a:rPr>
              <a:t>• Download Bar: File download progress indicator</a:t>
            </a:r>
          </a:p>
        </p:txBody>
      </p:sp>
      <p:grpSp>
        <p:nvGrpSpPr>
          <p:cNvPr name="Group 11" id="11"/>
          <p:cNvGrpSpPr/>
          <p:nvPr/>
        </p:nvGrpSpPr>
        <p:grpSpPr>
          <a:xfrm rot="0">
            <a:off x="9290180" y="4291442"/>
            <a:ext cx="6857250" cy="4167007"/>
            <a:chOff x="0" y="0"/>
            <a:chExt cx="609661" cy="370478"/>
          </a:xfrm>
        </p:grpSpPr>
        <p:sp>
          <p:nvSpPr>
            <p:cNvPr name="Freeform 12" id="12"/>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13" id="13"/>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9745224" y="4662033"/>
            <a:ext cx="5947162" cy="3225794"/>
          </a:xfrm>
          <a:prstGeom prst="rect">
            <a:avLst/>
          </a:prstGeom>
        </p:spPr>
        <p:txBody>
          <a:bodyPr anchor="t" rtlCol="false" tIns="0" lIns="0" bIns="0" rIns="0">
            <a:spAutoFit/>
          </a:bodyPr>
          <a:lstStyle/>
          <a:p>
            <a:pPr algn="l" marL="0" indent="0" lvl="0">
              <a:lnSpc>
                <a:spcPts val="1981"/>
              </a:lnSpc>
            </a:pPr>
            <a:r>
              <a:rPr lang="en-US" sz="1817">
                <a:solidFill>
                  <a:srgbClr val="FFFFFF"/>
                </a:solidFill>
                <a:latin typeface="TS Qamus"/>
                <a:ea typeface="TS Qamus"/>
                <a:cs typeface="TS Qamus"/>
                <a:sym typeface="TS Qamus"/>
              </a:rPr>
              <a:t>UX FEATURES</a:t>
            </a:r>
          </a:p>
          <a:p>
            <a:pPr algn="l" marL="0" indent="0" lvl="0">
              <a:lnSpc>
                <a:spcPts val="1981"/>
              </a:lnSpc>
            </a:pPr>
            <a:r>
              <a:rPr lang="en-US" sz="1817">
                <a:solidFill>
                  <a:srgbClr val="FFFFFF"/>
                </a:solidFill>
                <a:latin typeface="TS Qamus"/>
                <a:ea typeface="TS Qamus"/>
                <a:cs typeface="TS Qamus"/>
                <a:sym typeface="TS Qamus"/>
              </a:rPr>
              <a:t>• Fast Loading: V8 engine for quick page rendering</a:t>
            </a:r>
          </a:p>
          <a:p>
            <a:pPr algn="l" marL="0" indent="0" lvl="0">
              <a:lnSpc>
                <a:spcPts val="1981"/>
              </a:lnSpc>
            </a:pPr>
            <a:r>
              <a:rPr lang="en-US" sz="1817">
                <a:solidFill>
                  <a:srgbClr val="FFFFFF"/>
                </a:solidFill>
                <a:latin typeface="TS Qamus"/>
                <a:ea typeface="TS Qamus"/>
                <a:cs typeface="TS Qamus"/>
                <a:sym typeface="TS Qamus"/>
              </a:rPr>
              <a:t>• Sync Across Devices: Bookmarks, history &amp; passwords</a:t>
            </a:r>
          </a:p>
          <a:p>
            <a:pPr algn="l" marL="0" indent="0" lvl="0">
              <a:lnSpc>
                <a:spcPts val="1981"/>
              </a:lnSpc>
            </a:pPr>
            <a:r>
              <a:rPr lang="en-US" sz="1817">
                <a:solidFill>
                  <a:srgbClr val="FFFFFF"/>
                </a:solidFill>
                <a:latin typeface="TS Qamus"/>
                <a:ea typeface="TS Qamus"/>
                <a:cs typeface="TS Qamus"/>
                <a:sym typeface="TS Qamus"/>
              </a:rPr>
              <a:t>• Incognito Mode: Private browsing without history</a:t>
            </a:r>
          </a:p>
          <a:p>
            <a:pPr algn="l" marL="0" indent="0" lvl="0">
              <a:lnSpc>
                <a:spcPts val="1981"/>
              </a:lnSpc>
            </a:pPr>
            <a:r>
              <a:rPr lang="en-US" sz="1817">
                <a:solidFill>
                  <a:srgbClr val="FFFFFF"/>
                </a:solidFill>
                <a:latin typeface="TS Qamus"/>
                <a:ea typeface="TS Qamus"/>
                <a:cs typeface="TS Qamus"/>
                <a:sym typeface="TS Qamus"/>
              </a:rPr>
              <a:t>• Tab Management: Pin, group &amp; mute tabs easily</a:t>
            </a:r>
          </a:p>
          <a:p>
            <a:pPr algn="l" marL="0" indent="0" lvl="0">
              <a:lnSpc>
                <a:spcPts val="1981"/>
              </a:lnSpc>
            </a:pPr>
            <a:r>
              <a:rPr lang="en-US" sz="1817">
                <a:solidFill>
                  <a:srgbClr val="FFFFFF"/>
                </a:solidFill>
                <a:latin typeface="TS Qamus"/>
                <a:ea typeface="TS Qamus"/>
                <a:cs typeface="TS Qamus"/>
                <a:sym typeface="TS Qamus"/>
              </a:rPr>
              <a:t>• Smart Autofill: Forms &amp; passwords auto-completed</a:t>
            </a:r>
          </a:p>
          <a:p>
            <a:pPr algn="l" marL="0" indent="0" lvl="0">
              <a:lnSpc>
                <a:spcPts val="1981"/>
              </a:lnSpc>
            </a:pPr>
            <a:r>
              <a:rPr lang="en-US" sz="1817">
                <a:solidFill>
                  <a:srgbClr val="FFFFFF"/>
                </a:solidFill>
                <a:latin typeface="TS Qamus"/>
                <a:ea typeface="TS Qamus"/>
                <a:cs typeface="TS Qamus"/>
                <a:sym typeface="TS Qamus"/>
              </a:rPr>
              <a:t>• Safe Browsing: Phishing &amp; malware protection alerts</a:t>
            </a:r>
          </a:p>
          <a:p>
            <a:pPr algn="l" marL="0" indent="0" lvl="0">
              <a:lnSpc>
                <a:spcPts val="1981"/>
              </a:lnSpc>
            </a:pPr>
            <a:r>
              <a:rPr lang="en-US" sz="1817">
                <a:solidFill>
                  <a:srgbClr val="FFFFFF"/>
                </a:solidFill>
                <a:latin typeface="TS Qamus"/>
                <a:ea typeface="TS Qamus"/>
                <a:cs typeface="TS Qamus"/>
                <a:sym typeface="TS Qamus"/>
              </a:rPr>
              <a:t>• Minimal UI: Clean design keeps focus on content</a:t>
            </a:r>
          </a:p>
        </p:txBody>
      </p:sp>
      <p:sp>
        <p:nvSpPr>
          <p:cNvPr name="Freeform 15" id="15"/>
          <p:cNvSpPr/>
          <p:nvPr/>
        </p:nvSpPr>
        <p:spPr>
          <a:xfrm flipH="false" flipV="false" rot="0">
            <a:off x="4675586"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272000"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YOUTUBE</a:t>
            </a:r>
          </a:p>
        </p:txBody>
      </p:sp>
      <p:sp>
        <p:nvSpPr>
          <p:cNvPr name="Freeform 6" id="6"/>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40571" y="4291442"/>
            <a:ext cx="6857250" cy="4167007"/>
            <a:chOff x="0" y="0"/>
            <a:chExt cx="609661" cy="370478"/>
          </a:xfrm>
        </p:grpSpPr>
        <p:sp>
          <p:nvSpPr>
            <p:cNvPr name="Freeform 8" id="8"/>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9" id="9"/>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595614" y="4652508"/>
            <a:ext cx="5947162" cy="3374702"/>
          </a:xfrm>
          <a:prstGeom prst="rect">
            <a:avLst/>
          </a:prstGeom>
        </p:spPr>
        <p:txBody>
          <a:bodyPr anchor="t" rtlCol="false" tIns="0" lIns="0" bIns="0" rIns="0">
            <a:spAutoFit/>
          </a:bodyPr>
          <a:lstStyle/>
          <a:p>
            <a:pPr algn="l" marL="0" indent="0" lvl="0">
              <a:lnSpc>
                <a:spcPts val="2452"/>
              </a:lnSpc>
            </a:pPr>
            <a:r>
              <a:rPr lang="en-US" sz="2249">
                <a:solidFill>
                  <a:srgbClr val="FFFFFF"/>
                </a:solidFill>
                <a:latin typeface="TS Qamus"/>
                <a:ea typeface="TS Qamus"/>
                <a:cs typeface="TS Qamus"/>
                <a:sym typeface="TS Qamus"/>
              </a:rPr>
              <a:t>UI Elements:</a:t>
            </a:r>
          </a:p>
          <a:p>
            <a:pPr algn="l" marL="0" indent="0" lvl="0">
              <a:lnSpc>
                <a:spcPts val="2452"/>
              </a:lnSpc>
            </a:pPr>
            <a:r>
              <a:rPr lang="en-US" sz="2249">
                <a:solidFill>
                  <a:srgbClr val="FFFFFF"/>
                </a:solidFill>
                <a:latin typeface="TS Qamus"/>
                <a:ea typeface="TS Qamus"/>
                <a:cs typeface="TS Qamus"/>
                <a:sym typeface="TS Qamus"/>
              </a:rPr>
              <a:t>• Video Player (play, pause, seek bar, volume, fullscreen)</a:t>
            </a:r>
          </a:p>
          <a:p>
            <a:pPr algn="l" marL="0" indent="0" lvl="0">
              <a:lnSpc>
                <a:spcPts val="2452"/>
              </a:lnSpc>
            </a:pPr>
            <a:r>
              <a:rPr lang="en-US" sz="2249">
                <a:solidFill>
                  <a:srgbClr val="FFFFFF"/>
                </a:solidFill>
                <a:latin typeface="TS Qamus"/>
                <a:ea typeface="TS Qamus"/>
                <a:cs typeface="TS Qamus"/>
                <a:sym typeface="TS Qamus"/>
              </a:rPr>
              <a:t>• Thumbnails &amp; Video Cards</a:t>
            </a:r>
          </a:p>
          <a:p>
            <a:pPr algn="l" marL="0" indent="0" lvl="0">
              <a:lnSpc>
                <a:spcPts val="2452"/>
              </a:lnSpc>
            </a:pPr>
            <a:r>
              <a:rPr lang="en-US" sz="2249">
                <a:solidFill>
                  <a:srgbClr val="FFFFFF"/>
                </a:solidFill>
                <a:latin typeface="TS Qamus"/>
                <a:ea typeface="TS Qamus"/>
                <a:cs typeface="TS Qamus"/>
                <a:sym typeface="TS Qamus"/>
              </a:rPr>
              <a:t>• Search Bar with autocomplete</a:t>
            </a:r>
          </a:p>
          <a:p>
            <a:pPr algn="l" marL="0" indent="0" lvl="0">
              <a:lnSpc>
                <a:spcPts val="2452"/>
              </a:lnSpc>
            </a:pPr>
            <a:r>
              <a:rPr lang="en-US" sz="2249">
                <a:solidFill>
                  <a:srgbClr val="FFFFFF"/>
                </a:solidFill>
                <a:latin typeface="TS Qamus"/>
                <a:ea typeface="TS Qamus"/>
                <a:cs typeface="TS Qamus"/>
                <a:sym typeface="TS Qamus"/>
              </a:rPr>
              <a:t>• Left Sidebar (Home, Shorts, Subscriptions)</a:t>
            </a:r>
          </a:p>
          <a:p>
            <a:pPr algn="l" marL="0" indent="0" lvl="0">
              <a:lnSpc>
                <a:spcPts val="2452"/>
              </a:lnSpc>
            </a:pPr>
            <a:r>
              <a:rPr lang="en-US" sz="2249">
                <a:solidFill>
                  <a:srgbClr val="FFFFFF"/>
                </a:solidFill>
                <a:latin typeface="TS Qamus"/>
                <a:ea typeface="TS Qamus"/>
                <a:cs typeface="TS Qamus"/>
                <a:sym typeface="TS Qamus"/>
              </a:rPr>
              <a:t>• Channel Avatar &amp; Subscribe Button</a:t>
            </a:r>
          </a:p>
          <a:p>
            <a:pPr algn="l" marL="0" indent="0" lvl="0">
              <a:lnSpc>
                <a:spcPts val="2452"/>
              </a:lnSpc>
            </a:pPr>
            <a:r>
              <a:rPr lang="en-US" sz="2249">
                <a:solidFill>
                  <a:srgbClr val="FFFFFF"/>
                </a:solidFill>
                <a:latin typeface="TS Qamus"/>
                <a:ea typeface="TS Qamus"/>
                <a:cs typeface="TS Qamus"/>
                <a:sym typeface="TS Qamus"/>
              </a:rPr>
              <a:t>• Like, Dislike &amp; Share Icons</a:t>
            </a:r>
          </a:p>
          <a:p>
            <a:pPr algn="l" marL="0" indent="0" lvl="0">
              <a:lnSpc>
                <a:spcPts val="2452"/>
              </a:lnSpc>
            </a:pPr>
            <a:r>
              <a:rPr lang="en-US" sz="2249">
                <a:solidFill>
                  <a:srgbClr val="FFFFFF"/>
                </a:solidFill>
                <a:latin typeface="TS Qamus"/>
                <a:ea typeface="TS Qamus"/>
                <a:cs typeface="TS Qamus"/>
                <a:sym typeface="TS Qamus"/>
              </a:rPr>
              <a:t>• Comment Section</a:t>
            </a:r>
          </a:p>
          <a:p>
            <a:pPr algn="l" marL="0" indent="0" lvl="0">
              <a:lnSpc>
                <a:spcPts val="2452"/>
              </a:lnSpc>
            </a:pPr>
            <a:r>
              <a:rPr lang="en-US" sz="2249">
                <a:solidFill>
                  <a:srgbClr val="FFFFFF"/>
                </a:solidFill>
                <a:latin typeface="TS Qamus"/>
                <a:ea typeface="TS Qamus"/>
                <a:cs typeface="TS Qamus"/>
                <a:sym typeface="TS Qamus"/>
              </a:rPr>
              <a:t>• Notification Bell</a:t>
            </a:r>
          </a:p>
        </p:txBody>
      </p:sp>
      <p:grpSp>
        <p:nvGrpSpPr>
          <p:cNvPr name="Group 11" id="11"/>
          <p:cNvGrpSpPr/>
          <p:nvPr/>
        </p:nvGrpSpPr>
        <p:grpSpPr>
          <a:xfrm rot="0">
            <a:off x="9290180" y="4291442"/>
            <a:ext cx="6857250" cy="4167007"/>
            <a:chOff x="0" y="0"/>
            <a:chExt cx="609661" cy="370478"/>
          </a:xfrm>
        </p:grpSpPr>
        <p:sp>
          <p:nvSpPr>
            <p:cNvPr name="Freeform 12" id="12"/>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13" id="13"/>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9745224" y="4652508"/>
            <a:ext cx="5947162" cy="3069902"/>
          </a:xfrm>
          <a:prstGeom prst="rect">
            <a:avLst/>
          </a:prstGeom>
        </p:spPr>
        <p:txBody>
          <a:bodyPr anchor="t" rtlCol="false" tIns="0" lIns="0" bIns="0" rIns="0">
            <a:spAutoFit/>
          </a:bodyPr>
          <a:lstStyle/>
          <a:p>
            <a:pPr algn="l" marL="0" indent="0" lvl="0">
              <a:lnSpc>
                <a:spcPts val="2452"/>
              </a:lnSpc>
            </a:pPr>
            <a:r>
              <a:rPr lang="en-US" sz="2249">
                <a:solidFill>
                  <a:srgbClr val="FFFFFF"/>
                </a:solidFill>
                <a:latin typeface="TS Qamus"/>
                <a:ea typeface="TS Qamus"/>
                <a:cs typeface="TS Qamus"/>
                <a:sym typeface="TS Qamus"/>
              </a:rPr>
              <a:t>UX Features:</a:t>
            </a:r>
          </a:p>
          <a:p>
            <a:pPr algn="l" marL="0" indent="0" lvl="0">
              <a:lnSpc>
                <a:spcPts val="2452"/>
              </a:lnSpc>
            </a:pPr>
            <a:r>
              <a:rPr lang="en-US" sz="2249">
                <a:solidFill>
                  <a:srgbClr val="FFFFFF"/>
                </a:solidFill>
                <a:latin typeface="TS Qamus"/>
                <a:ea typeface="TS Qamus"/>
                <a:cs typeface="TS Qamus"/>
                <a:sym typeface="TS Qamus"/>
              </a:rPr>
              <a:t>• Autoplay &amp; Continuous Queue</a:t>
            </a:r>
          </a:p>
          <a:p>
            <a:pPr algn="l" marL="0" indent="0" lvl="0">
              <a:lnSpc>
                <a:spcPts val="2452"/>
              </a:lnSpc>
            </a:pPr>
            <a:r>
              <a:rPr lang="en-US" sz="2249">
                <a:solidFill>
                  <a:srgbClr val="FFFFFF"/>
                </a:solidFill>
                <a:latin typeface="TS Qamus"/>
                <a:ea typeface="TS Qamus"/>
                <a:cs typeface="TS Qamus"/>
                <a:sym typeface="TS Qamus"/>
              </a:rPr>
              <a:t>• Personalized Recommendations</a:t>
            </a:r>
          </a:p>
          <a:p>
            <a:pPr algn="l" marL="0" indent="0" lvl="0">
              <a:lnSpc>
                <a:spcPts val="2452"/>
              </a:lnSpc>
            </a:pPr>
            <a:r>
              <a:rPr lang="en-US" sz="2249">
                <a:solidFill>
                  <a:srgbClr val="FFFFFF"/>
                </a:solidFill>
                <a:latin typeface="TS Qamus"/>
                <a:ea typeface="TS Qamus"/>
                <a:cs typeface="TS Qamus"/>
                <a:sym typeface="TS Qamus"/>
              </a:rPr>
              <a:t>• Watch History &amp; Resume Playback</a:t>
            </a:r>
          </a:p>
          <a:p>
            <a:pPr algn="l" marL="0" indent="0" lvl="0">
              <a:lnSpc>
                <a:spcPts val="2452"/>
              </a:lnSpc>
            </a:pPr>
            <a:r>
              <a:rPr lang="en-US" sz="2249">
                <a:solidFill>
                  <a:srgbClr val="FFFFFF"/>
                </a:solidFill>
                <a:latin typeface="TS Qamus"/>
                <a:ea typeface="TS Qamus"/>
                <a:cs typeface="TS Qamus"/>
                <a:sym typeface="TS Qamus"/>
              </a:rPr>
              <a:t>• YouTube Shorts for short-form content</a:t>
            </a:r>
          </a:p>
          <a:p>
            <a:pPr algn="l" marL="0" indent="0" lvl="0">
              <a:lnSpc>
                <a:spcPts val="2452"/>
              </a:lnSpc>
            </a:pPr>
            <a:r>
              <a:rPr lang="en-US" sz="2249">
                <a:solidFill>
                  <a:srgbClr val="FFFFFF"/>
                </a:solidFill>
                <a:latin typeface="TS Qamus"/>
                <a:ea typeface="TS Qamus"/>
                <a:cs typeface="TS Qamus"/>
                <a:sym typeface="TS Qamus"/>
              </a:rPr>
              <a:t>• Mini Player for multitasking</a:t>
            </a:r>
          </a:p>
          <a:p>
            <a:pPr algn="l" marL="0" indent="0" lvl="0">
              <a:lnSpc>
                <a:spcPts val="2452"/>
              </a:lnSpc>
            </a:pPr>
            <a:r>
              <a:rPr lang="en-US" sz="2249">
                <a:solidFill>
                  <a:srgbClr val="FFFFFF"/>
                </a:solidFill>
                <a:latin typeface="TS Qamus"/>
                <a:ea typeface="TS Qamus"/>
                <a:cs typeface="TS Qamus"/>
                <a:sym typeface="TS Qamus"/>
              </a:rPr>
              <a:t>• Chapters &amp; Timestamps in videos</a:t>
            </a:r>
          </a:p>
          <a:p>
            <a:pPr algn="l" marL="0" indent="0" lvl="0">
              <a:lnSpc>
                <a:spcPts val="2452"/>
              </a:lnSpc>
            </a:pPr>
            <a:r>
              <a:rPr lang="en-US" sz="2249">
                <a:solidFill>
                  <a:srgbClr val="FFFFFF"/>
                </a:solidFill>
                <a:latin typeface="TS Qamus"/>
                <a:ea typeface="TS Qamus"/>
                <a:cs typeface="TS Qamus"/>
                <a:sym typeface="TS Qamus"/>
              </a:rPr>
              <a:t>• Dark Mode &amp; Accessibility options</a:t>
            </a:r>
          </a:p>
          <a:p>
            <a:pPr algn="l" marL="0" indent="0" lvl="0">
              <a:lnSpc>
                <a:spcPts val="2452"/>
              </a:lnSpc>
            </a:pPr>
            <a:r>
              <a:rPr lang="en-US" sz="2249">
                <a:solidFill>
                  <a:srgbClr val="FFFFFF"/>
                </a:solidFill>
                <a:latin typeface="TS Qamus"/>
                <a:ea typeface="TS Qamus"/>
                <a:cs typeface="TS Qamus"/>
                <a:sym typeface="TS Qamus"/>
              </a:rPr>
              <a:t>• Offline Download (Premium)</a:t>
            </a:r>
          </a:p>
        </p:txBody>
      </p:sp>
      <p:sp>
        <p:nvSpPr>
          <p:cNvPr name="Freeform 15" id="15"/>
          <p:cNvSpPr/>
          <p:nvPr/>
        </p:nvSpPr>
        <p:spPr>
          <a:xfrm flipH="false" flipV="false" rot="0">
            <a:off x="4675586"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272000"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CALCULATOR</a:t>
            </a:r>
          </a:p>
        </p:txBody>
      </p:sp>
      <p:sp>
        <p:nvSpPr>
          <p:cNvPr name="Freeform 6" id="6"/>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40571" y="4291442"/>
            <a:ext cx="6857250" cy="4167007"/>
            <a:chOff x="0" y="0"/>
            <a:chExt cx="609661" cy="370478"/>
          </a:xfrm>
        </p:grpSpPr>
        <p:sp>
          <p:nvSpPr>
            <p:cNvPr name="Freeform 8" id="8"/>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9" id="9"/>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595614" y="4652508"/>
            <a:ext cx="5947162" cy="3374702"/>
          </a:xfrm>
          <a:prstGeom prst="rect">
            <a:avLst/>
          </a:prstGeom>
        </p:spPr>
        <p:txBody>
          <a:bodyPr anchor="t" rtlCol="false" tIns="0" lIns="0" bIns="0" rIns="0">
            <a:spAutoFit/>
          </a:bodyPr>
          <a:lstStyle/>
          <a:p>
            <a:pPr algn="l" marL="0" indent="0" lvl="0">
              <a:lnSpc>
                <a:spcPts val="2452"/>
              </a:lnSpc>
            </a:pPr>
            <a:r>
              <a:rPr lang="en-US" sz="2249">
                <a:solidFill>
                  <a:srgbClr val="FFFFFF"/>
                </a:solidFill>
                <a:latin typeface="TS Qamus"/>
                <a:ea typeface="TS Qamus"/>
                <a:cs typeface="TS Qamus"/>
                <a:sym typeface="TS Qamus"/>
              </a:rPr>
              <a:t>UI ELEMENTS</a:t>
            </a:r>
          </a:p>
          <a:p>
            <a:pPr algn="l" marL="0" indent="0" lvl="0">
              <a:lnSpc>
                <a:spcPts val="2452"/>
              </a:lnSpc>
            </a:pPr>
            <a:r>
              <a:rPr lang="en-US" sz="2249">
                <a:solidFill>
                  <a:srgbClr val="FFFFFF"/>
                </a:solidFill>
                <a:latin typeface="TS Qamus"/>
                <a:ea typeface="TS Qamus"/>
                <a:cs typeface="TS Qamus"/>
                <a:sym typeface="TS Qamus"/>
              </a:rPr>
              <a:t>• Number Pad (0-9 digits)</a:t>
            </a:r>
          </a:p>
          <a:p>
            <a:pPr algn="l" marL="0" indent="0" lvl="0">
              <a:lnSpc>
                <a:spcPts val="2452"/>
              </a:lnSpc>
            </a:pPr>
            <a:r>
              <a:rPr lang="en-US" sz="2249">
                <a:solidFill>
                  <a:srgbClr val="FFFFFF"/>
                </a:solidFill>
                <a:latin typeface="TS Qamus"/>
                <a:ea typeface="TS Qamus"/>
                <a:cs typeface="TS Qamus"/>
                <a:sym typeface="TS Qamus"/>
              </a:rPr>
              <a:t>• Operator Buttons (+, -, ×, ÷)</a:t>
            </a:r>
          </a:p>
          <a:p>
            <a:pPr algn="l" marL="0" indent="0" lvl="0">
              <a:lnSpc>
                <a:spcPts val="2452"/>
              </a:lnSpc>
            </a:pPr>
            <a:r>
              <a:rPr lang="en-US" sz="2249">
                <a:solidFill>
                  <a:srgbClr val="FFFFFF"/>
                </a:solidFill>
                <a:latin typeface="TS Qamus"/>
                <a:ea typeface="TS Qamus"/>
                <a:cs typeface="TS Qamus"/>
                <a:sym typeface="TS Qamus"/>
              </a:rPr>
              <a:t>• Display Screen / Output Panel</a:t>
            </a:r>
          </a:p>
          <a:p>
            <a:pPr algn="l" marL="0" indent="0" lvl="0">
              <a:lnSpc>
                <a:spcPts val="2452"/>
              </a:lnSpc>
            </a:pPr>
            <a:r>
              <a:rPr lang="en-US" sz="2249">
                <a:solidFill>
                  <a:srgbClr val="FFFFFF"/>
                </a:solidFill>
                <a:latin typeface="TS Qamus"/>
                <a:ea typeface="TS Qamus"/>
                <a:cs typeface="TS Qamus"/>
                <a:sym typeface="TS Qamus"/>
              </a:rPr>
              <a:t>• Clear &amp; Delete Buttons (C, CE, ⌫)</a:t>
            </a:r>
          </a:p>
          <a:p>
            <a:pPr algn="l" marL="0" indent="0" lvl="0">
              <a:lnSpc>
                <a:spcPts val="2452"/>
              </a:lnSpc>
            </a:pPr>
            <a:r>
              <a:rPr lang="en-US" sz="2249">
                <a:solidFill>
                  <a:srgbClr val="FFFFFF"/>
                </a:solidFill>
                <a:latin typeface="TS Qamus"/>
                <a:ea typeface="TS Qamus"/>
                <a:cs typeface="TS Qamus"/>
                <a:sym typeface="TS Qamus"/>
              </a:rPr>
              <a:t>• Equals Button (=)</a:t>
            </a:r>
          </a:p>
          <a:p>
            <a:pPr algn="l" marL="0" indent="0" lvl="0">
              <a:lnSpc>
                <a:spcPts val="2452"/>
              </a:lnSpc>
            </a:pPr>
            <a:r>
              <a:rPr lang="en-US" sz="2249">
                <a:solidFill>
                  <a:srgbClr val="FFFFFF"/>
                </a:solidFill>
                <a:latin typeface="TS Qamus"/>
                <a:ea typeface="TS Qamus"/>
                <a:cs typeface="TS Qamus"/>
                <a:sym typeface="TS Qamus"/>
              </a:rPr>
              <a:t>• Decimal Point Button</a:t>
            </a:r>
          </a:p>
          <a:p>
            <a:pPr algn="l" marL="0" indent="0" lvl="0">
              <a:lnSpc>
                <a:spcPts val="2452"/>
              </a:lnSpc>
            </a:pPr>
            <a:r>
              <a:rPr lang="en-US" sz="2249">
                <a:solidFill>
                  <a:srgbClr val="FFFFFF"/>
                </a:solidFill>
                <a:latin typeface="TS Qamus"/>
                <a:ea typeface="TS Qamus"/>
                <a:cs typeface="TS Qamus"/>
                <a:sym typeface="TS Qamus"/>
              </a:rPr>
              <a:t>• Memory Function Keys (M+, M-, MR)</a:t>
            </a:r>
          </a:p>
          <a:p>
            <a:pPr algn="l" marL="0" indent="0" lvl="0">
              <a:lnSpc>
                <a:spcPts val="2452"/>
              </a:lnSpc>
            </a:pPr>
            <a:r>
              <a:rPr lang="en-US" sz="2249">
                <a:solidFill>
                  <a:srgbClr val="FFFFFF"/>
                </a:solidFill>
                <a:latin typeface="TS Qamus"/>
                <a:ea typeface="TS Qamus"/>
                <a:cs typeface="TS Qamus"/>
                <a:sym typeface="TS Qamus"/>
              </a:rPr>
              <a:t>• Calculation History Panel</a:t>
            </a:r>
          </a:p>
          <a:p>
            <a:pPr algn="l" marL="0" indent="0" lvl="0">
              <a:lnSpc>
                <a:spcPts val="2452"/>
              </a:lnSpc>
            </a:pPr>
            <a:r>
              <a:rPr lang="en-US" sz="2249">
                <a:solidFill>
                  <a:srgbClr val="FFFFFF"/>
                </a:solidFill>
                <a:latin typeface="TS Qamus"/>
                <a:ea typeface="TS Qamus"/>
                <a:cs typeface="TS Qamus"/>
                <a:sym typeface="TS Qamus"/>
              </a:rPr>
              <a:t>• Percentage Button (%)</a:t>
            </a:r>
          </a:p>
          <a:p>
            <a:pPr algn="l" marL="0" indent="0" lvl="0">
              <a:lnSpc>
                <a:spcPts val="2452"/>
              </a:lnSpc>
            </a:pPr>
            <a:r>
              <a:rPr lang="en-US" sz="2249">
                <a:solidFill>
                  <a:srgbClr val="FFFFFF"/>
                </a:solidFill>
                <a:latin typeface="TS Qamus"/>
                <a:ea typeface="TS Qamus"/>
                <a:cs typeface="TS Qamus"/>
                <a:sym typeface="TS Qamus"/>
              </a:rPr>
              <a:t>• Sign Toggle Button (+/-)</a:t>
            </a:r>
          </a:p>
        </p:txBody>
      </p:sp>
      <p:grpSp>
        <p:nvGrpSpPr>
          <p:cNvPr name="Group 11" id="11"/>
          <p:cNvGrpSpPr/>
          <p:nvPr/>
        </p:nvGrpSpPr>
        <p:grpSpPr>
          <a:xfrm rot="0">
            <a:off x="9290180" y="4291442"/>
            <a:ext cx="6857250" cy="4167007"/>
            <a:chOff x="0" y="0"/>
            <a:chExt cx="609661" cy="370478"/>
          </a:xfrm>
        </p:grpSpPr>
        <p:sp>
          <p:nvSpPr>
            <p:cNvPr name="Freeform 12" id="12"/>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13" id="13"/>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9745224" y="4652508"/>
            <a:ext cx="5947162" cy="3374702"/>
          </a:xfrm>
          <a:prstGeom prst="rect">
            <a:avLst/>
          </a:prstGeom>
        </p:spPr>
        <p:txBody>
          <a:bodyPr anchor="t" rtlCol="false" tIns="0" lIns="0" bIns="0" rIns="0">
            <a:spAutoFit/>
          </a:bodyPr>
          <a:lstStyle/>
          <a:p>
            <a:pPr algn="l" marL="0" indent="0" lvl="0">
              <a:lnSpc>
                <a:spcPts val="2452"/>
              </a:lnSpc>
            </a:pPr>
            <a:r>
              <a:rPr lang="en-US" sz="2249">
                <a:solidFill>
                  <a:srgbClr val="FFFFFF"/>
                </a:solidFill>
                <a:latin typeface="TS Qamus"/>
                <a:ea typeface="TS Qamus"/>
                <a:cs typeface="TS Qamus"/>
                <a:sym typeface="TS Qamus"/>
              </a:rPr>
              <a:t>UX FEATURES</a:t>
            </a:r>
          </a:p>
          <a:p>
            <a:pPr algn="l" marL="0" indent="0" lvl="0">
              <a:lnSpc>
                <a:spcPts val="2452"/>
              </a:lnSpc>
            </a:pPr>
            <a:r>
              <a:rPr lang="en-US" sz="2249">
                <a:solidFill>
                  <a:srgbClr val="FFFFFF"/>
                </a:solidFill>
                <a:latin typeface="TS Qamus"/>
                <a:ea typeface="TS Qamus"/>
                <a:cs typeface="TS Qamus"/>
                <a:sym typeface="TS Qamus"/>
              </a:rPr>
              <a:t>• Instant Real-Time Calculations</a:t>
            </a:r>
          </a:p>
          <a:p>
            <a:pPr algn="l" marL="0" indent="0" lvl="0">
              <a:lnSpc>
                <a:spcPts val="2452"/>
              </a:lnSpc>
            </a:pPr>
            <a:r>
              <a:rPr lang="en-US" sz="2249">
                <a:solidFill>
                  <a:srgbClr val="FFFFFF"/>
                </a:solidFill>
                <a:latin typeface="TS Qamus"/>
                <a:ea typeface="TS Qamus"/>
                <a:cs typeface="TS Qamus"/>
                <a:sym typeface="TS Qamus"/>
              </a:rPr>
              <a:t>• Clean, Minimal Layout for Focus</a:t>
            </a:r>
          </a:p>
          <a:p>
            <a:pPr algn="l" marL="0" indent="0" lvl="0">
              <a:lnSpc>
                <a:spcPts val="2452"/>
              </a:lnSpc>
            </a:pPr>
            <a:r>
              <a:rPr lang="en-US" sz="2249">
                <a:solidFill>
                  <a:srgbClr val="FFFFFF"/>
                </a:solidFill>
                <a:latin typeface="TS Qamus"/>
                <a:ea typeface="TS Qamus"/>
                <a:cs typeface="TS Qamus"/>
                <a:sym typeface="TS Qamus"/>
              </a:rPr>
              <a:t>• Large Tap Targets for Accuracy</a:t>
            </a:r>
          </a:p>
          <a:p>
            <a:pPr algn="l" marL="0" indent="0" lvl="0">
              <a:lnSpc>
                <a:spcPts val="2452"/>
              </a:lnSpc>
            </a:pPr>
            <a:r>
              <a:rPr lang="en-US" sz="2249">
                <a:solidFill>
                  <a:srgbClr val="FFFFFF"/>
                </a:solidFill>
                <a:latin typeface="TS Qamus"/>
                <a:ea typeface="TS Qamus"/>
                <a:cs typeface="TS Qamus"/>
                <a:sym typeface="TS Qamus"/>
              </a:rPr>
              <a:t>• Clear Visual Hierarchy of Buttons</a:t>
            </a:r>
          </a:p>
          <a:p>
            <a:pPr algn="l" marL="0" indent="0" lvl="0">
              <a:lnSpc>
                <a:spcPts val="2452"/>
              </a:lnSpc>
            </a:pPr>
            <a:r>
              <a:rPr lang="en-US" sz="2249">
                <a:solidFill>
                  <a:srgbClr val="FFFFFF"/>
                </a:solidFill>
                <a:latin typeface="TS Qamus"/>
                <a:ea typeface="TS Qamus"/>
                <a:cs typeface="TS Qamus"/>
                <a:sym typeface="TS Qamus"/>
              </a:rPr>
              <a:t>• Memory Functions for Multi-Step Math</a:t>
            </a:r>
          </a:p>
          <a:p>
            <a:pPr algn="l" marL="0" indent="0" lvl="0">
              <a:lnSpc>
                <a:spcPts val="2452"/>
              </a:lnSpc>
            </a:pPr>
            <a:r>
              <a:rPr lang="en-US" sz="2249">
                <a:solidFill>
                  <a:srgbClr val="FFFFFF"/>
                </a:solidFill>
                <a:latin typeface="TS Qamus"/>
                <a:ea typeface="TS Qamus"/>
                <a:cs typeface="TS Qamus"/>
                <a:sym typeface="TS Qamus"/>
              </a:rPr>
              <a:t>• Error Feedback (e.g., "Error" display)</a:t>
            </a:r>
          </a:p>
          <a:p>
            <a:pPr algn="l" marL="0" indent="0" lvl="0">
              <a:lnSpc>
                <a:spcPts val="2452"/>
              </a:lnSpc>
            </a:pPr>
            <a:r>
              <a:rPr lang="en-US" sz="2249">
                <a:solidFill>
                  <a:srgbClr val="FFFFFF"/>
                </a:solidFill>
                <a:latin typeface="TS Qamus"/>
                <a:ea typeface="TS Qamus"/>
                <a:cs typeface="TS Qamus"/>
                <a:sym typeface="TS Qamus"/>
              </a:rPr>
              <a:t>• History Log for Previous Results</a:t>
            </a:r>
          </a:p>
          <a:p>
            <a:pPr algn="l" marL="0" indent="0" lvl="0">
              <a:lnSpc>
                <a:spcPts val="2452"/>
              </a:lnSpc>
            </a:pPr>
            <a:r>
              <a:rPr lang="en-US" sz="2249">
                <a:solidFill>
                  <a:srgbClr val="FFFFFF"/>
                </a:solidFill>
                <a:latin typeface="TS Qamus"/>
                <a:ea typeface="TS Qamus"/>
                <a:cs typeface="TS Qamus"/>
                <a:sym typeface="TS Qamus"/>
              </a:rPr>
              <a:t>• Keyboard Shortcut Support</a:t>
            </a:r>
          </a:p>
          <a:p>
            <a:pPr algn="l" marL="0" indent="0" lvl="0">
              <a:lnSpc>
                <a:spcPts val="2452"/>
              </a:lnSpc>
            </a:pPr>
            <a:r>
              <a:rPr lang="en-US" sz="2249">
                <a:solidFill>
                  <a:srgbClr val="FFFFFF"/>
                </a:solidFill>
                <a:latin typeface="TS Qamus"/>
                <a:ea typeface="TS Qamus"/>
                <a:cs typeface="TS Qamus"/>
                <a:sym typeface="TS Qamus"/>
              </a:rPr>
              <a:t>• High Contrast Button Design</a:t>
            </a:r>
          </a:p>
          <a:p>
            <a:pPr algn="l" marL="0" indent="0" lvl="0">
              <a:lnSpc>
                <a:spcPts val="2452"/>
              </a:lnSpc>
            </a:pPr>
            <a:r>
              <a:rPr lang="en-US" sz="2249">
                <a:solidFill>
                  <a:srgbClr val="FFFFFF"/>
                </a:solidFill>
                <a:latin typeface="TS Qamus"/>
                <a:ea typeface="TS Qamus"/>
                <a:cs typeface="TS Qamus"/>
                <a:sym typeface="TS Qamus"/>
              </a:rPr>
              <a:t>• One-Handed Usability on Mobile</a:t>
            </a:r>
          </a:p>
        </p:txBody>
      </p:sp>
      <p:sp>
        <p:nvSpPr>
          <p:cNvPr name="Freeform 15" id="15"/>
          <p:cNvSpPr/>
          <p:nvPr/>
        </p:nvSpPr>
        <p:spPr>
          <a:xfrm flipH="false" flipV="false" rot="0">
            <a:off x="4701171" y="3110930"/>
            <a:ext cx="860482" cy="931510"/>
          </a:xfrm>
          <a:custGeom>
            <a:avLst/>
            <a:gdLst/>
            <a:ahLst/>
            <a:cxnLst/>
            <a:rect r="r" b="b" t="t" l="l"/>
            <a:pathLst>
              <a:path h="931510" w="860482">
                <a:moveTo>
                  <a:pt x="0" y="0"/>
                </a:moveTo>
                <a:lnTo>
                  <a:pt x="860483" y="0"/>
                </a:lnTo>
                <a:lnTo>
                  <a:pt x="860483" y="931511"/>
                </a:lnTo>
                <a:lnTo>
                  <a:pt x="0" y="931511"/>
                </a:lnTo>
                <a:lnTo>
                  <a:pt x="0" y="0"/>
                </a:lnTo>
                <a:close/>
              </a:path>
            </a:pathLst>
          </a:custGeom>
          <a:blipFill>
            <a:blip r:embed="rId6"/>
            <a:stretch>
              <a:fillRect l="0" t="0" r="0" b="0"/>
            </a:stretch>
          </a:blipFill>
        </p:spPr>
      </p:sp>
      <p:sp>
        <p:nvSpPr>
          <p:cNvPr name="Freeform 16" id="16"/>
          <p:cNvSpPr/>
          <p:nvPr/>
        </p:nvSpPr>
        <p:spPr>
          <a:xfrm flipH="false" flipV="false" rot="0">
            <a:off x="12280034" y="3148254"/>
            <a:ext cx="877010" cy="880014"/>
          </a:xfrm>
          <a:custGeom>
            <a:avLst/>
            <a:gdLst/>
            <a:ahLst/>
            <a:cxnLst/>
            <a:rect r="r" b="b" t="t" l="l"/>
            <a:pathLst>
              <a:path h="880014" w="877010">
                <a:moveTo>
                  <a:pt x="0" y="0"/>
                </a:moveTo>
                <a:lnTo>
                  <a:pt x="877010" y="0"/>
                </a:lnTo>
                <a:lnTo>
                  <a:pt x="877010" y="880014"/>
                </a:lnTo>
                <a:lnTo>
                  <a:pt x="0" y="880014"/>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CLOCK</a:t>
            </a:r>
          </a:p>
        </p:txBody>
      </p:sp>
      <p:sp>
        <p:nvSpPr>
          <p:cNvPr name="Freeform 6" id="6"/>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40571" y="4291442"/>
            <a:ext cx="6857250" cy="4167007"/>
            <a:chOff x="0" y="0"/>
            <a:chExt cx="609661" cy="370478"/>
          </a:xfrm>
        </p:grpSpPr>
        <p:sp>
          <p:nvSpPr>
            <p:cNvPr name="Freeform 8" id="8"/>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9" id="9"/>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595614" y="4662033"/>
            <a:ext cx="5947162" cy="2759075"/>
          </a:xfrm>
          <a:prstGeom prst="rect">
            <a:avLst/>
          </a:prstGeom>
        </p:spPr>
        <p:txBody>
          <a:bodyPr anchor="t" rtlCol="false" tIns="0" lIns="0" bIns="0" rIns="0">
            <a:spAutoFit/>
          </a:bodyPr>
          <a:lstStyle/>
          <a:p>
            <a:pPr algn="l" marL="0" indent="0" lvl="0">
              <a:lnSpc>
                <a:spcPts val="2724"/>
              </a:lnSpc>
            </a:pPr>
            <a:r>
              <a:rPr lang="en-US" sz="2499">
                <a:solidFill>
                  <a:srgbClr val="FFFFFF"/>
                </a:solidFill>
                <a:latin typeface="TS Qamus"/>
                <a:ea typeface="TS Qamus"/>
                <a:cs typeface="TS Qamus"/>
                <a:sym typeface="TS Qamus"/>
              </a:rPr>
              <a:t>UI ELEMENTS</a:t>
            </a:r>
          </a:p>
          <a:p>
            <a:pPr algn="l" marL="0" indent="0" lvl="0">
              <a:lnSpc>
                <a:spcPts val="2724"/>
              </a:lnSpc>
            </a:pPr>
            <a:r>
              <a:rPr lang="en-US" sz="2499">
                <a:solidFill>
                  <a:srgbClr val="FFFFFF"/>
                </a:solidFill>
                <a:latin typeface="TS Qamus"/>
                <a:ea typeface="TS Qamus"/>
                <a:cs typeface="TS Qamus"/>
                <a:sym typeface="TS Qamus"/>
              </a:rPr>
              <a:t>• Analog &amp; Digital Display</a:t>
            </a:r>
          </a:p>
          <a:p>
            <a:pPr algn="l" marL="0" indent="0" lvl="0">
              <a:lnSpc>
                <a:spcPts val="2724"/>
              </a:lnSpc>
            </a:pPr>
            <a:r>
              <a:rPr lang="en-US" sz="2499">
                <a:solidFill>
                  <a:srgbClr val="FFFFFF"/>
                </a:solidFill>
                <a:latin typeface="TS Qamus"/>
                <a:ea typeface="TS Qamus"/>
                <a:cs typeface="TS Qamus"/>
                <a:sym typeface="TS Qamus"/>
              </a:rPr>
              <a:t>• Alarm Settings Panel</a:t>
            </a:r>
          </a:p>
          <a:p>
            <a:pPr algn="l" marL="0" indent="0" lvl="0">
              <a:lnSpc>
                <a:spcPts val="2724"/>
              </a:lnSpc>
            </a:pPr>
            <a:r>
              <a:rPr lang="en-US" sz="2499">
                <a:solidFill>
                  <a:srgbClr val="FFFFFF"/>
                </a:solidFill>
                <a:latin typeface="TS Qamus"/>
                <a:ea typeface="TS Qamus"/>
                <a:cs typeface="TS Qamus"/>
                <a:sym typeface="TS Qamus"/>
              </a:rPr>
              <a:t>• Timer Interface</a:t>
            </a:r>
          </a:p>
          <a:p>
            <a:pPr algn="l" marL="0" indent="0" lvl="0">
              <a:lnSpc>
                <a:spcPts val="2724"/>
              </a:lnSpc>
            </a:pPr>
            <a:r>
              <a:rPr lang="en-US" sz="2499">
                <a:solidFill>
                  <a:srgbClr val="FFFFFF"/>
                </a:solidFill>
                <a:latin typeface="TS Qamus"/>
                <a:ea typeface="TS Qamus"/>
                <a:cs typeface="TS Qamus"/>
                <a:sym typeface="TS Qamus"/>
              </a:rPr>
              <a:t>• Stopwatch Controls</a:t>
            </a:r>
          </a:p>
          <a:p>
            <a:pPr algn="l" marL="0" indent="0" lvl="0">
              <a:lnSpc>
                <a:spcPts val="2724"/>
              </a:lnSpc>
            </a:pPr>
            <a:r>
              <a:rPr lang="en-US" sz="2499">
                <a:solidFill>
                  <a:srgbClr val="FFFFFF"/>
                </a:solidFill>
                <a:latin typeface="TS Qamus"/>
                <a:ea typeface="TS Qamus"/>
                <a:cs typeface="TS Qamus"/>
                <a:sym typeface="TS Qamus"/>
              </a:rPr>
              <a:t>• Time Zone Selector</a:t>
            </a:r>
          </a:p>
          <a:p>
            <a:pPr algn="l" marL="0" indent="0" lvl="0">
              <a:lnSpc>
                <a:spcPts val="2724"/>
              </a:lnSpc>
            </a:pPr>
            <a:r>
              <a:rPr lang="en-US" sz="2499">
                <a:solidFill>
                  <a:srgbClr val="FFFFFF"/>
                </a:solidFill>
                <a:latin typeface="TS Qamus"/>
                <a:ea typeface="TS Qamus"/>
                <a:cs typeface="TS Qamus"/>
                <a:sym typeface="TS Qamus"/>
              </a:rPr>
              <a:t>• Snooze Button</a:t>
            </a:r>
          </a:p>
          <a:p>
            <a:pPr algn="l" marL="0" indent="0" lvl="0">
              <a:lnSpc>
                <a:spcPts val="2724"/>
              </a:lnSpc>
            </a:pPr>
            <a:r>
              <a:rPr lang="en-US" sz="2499">
                <a:solidFill>
                  <a:srgbClr val="FFFFFF"/>
                </a:solidFill>
                <a:latin typeface="TS Qamus"/>
                <a:ea typeface="TS Qamus"/>
                <a:cs typeface="TS Qamus"/>
                <a:sym typeface="TS Qamus"/>
              </a:rPr>
              <a:t>• Clock Face / Hands</a:t>
            </a:r>
          </a:p>
        </p:txBody>
      </p:sp>
      <p:grpSp>
        <p:nvGrpSpPr>
          <p:cNvPr name="Group 11" id="11"/>
          <p:cNvGrpSpPr/>
          <p:nvPr/>
        </p:nvGrpSpPr>
        <p:grpSpPr>
          <a:xfrm rot="0">
            <a:off x="9290180" y="4291442"/>
            <a:ext cx="6857250" cy="4167007"/>
            <a:chOff x="0" y="0"/>
            <a:chExt cx="609661" cy="370478"/>
          </a:xfrm>
        </p:grpSpPr>
        <p:sp>
          <p:nvSpPr>
            <p:cNvPr name="Freeform 12" id="12"/>
            <p:cNvSpPr/>
            <p:nvPr/>
          </p:nvSpPr>
          <p:spPr>
            <a:xfrm flipH="false" flipV="false" rot="0">
              <a:off x="0" y="0"/>
              <a:ext cx="609661" cy="370478"/>
            </a:xfrm>
            <a:custGeom>
              <a:avLst/>
              <a:gdLst/>
              <a:ahLst/>
              <a:cxnLst/>
              <a:rect r="r" b="b" t="t" l="l"/>
              <a:pathLst>
                <a:path h="370478" w="609661">
                  <a:moveTo>
                    <a:pt x="22051" y="0"/>
                  </a:moveTo>
                  <a:lnTo>
                    <a:pt x="587610" y="0"/>
                  </a:lnTo>
                  <a:cubicBezTo>
                    <a:pt x="599789" y="0"/>
                    <a:pt x="609661" y="9873"/>
                    <a:pt x="609661" y="22051"/>
                  </a:cubicBezTo>
                  <a:lnTo>
                    <a:pt x="609661" y="348427"/>
                  </a:lnTo>
                  <a:cubicBezTo>
                    <a:pt x="609661" y="354276"/>
                    <a:pt x="607338" y="359884"/>
                    <a:pt x="603203" y="364020"/>
                  </a:cubicBezTo>
                  <a:cubicBezTo>
                    <a:pt x="599067" y="368155"/>
                    <a:pt x="593459" y="370478"/>
                    <a:pt x="587610" y="370478"/>
                  </a:cubicBezTo>
                  <a:lnTo>
                    <a:pt x="22051" y="370478"/>
                  </a:lnTo>
                  <a:cubicBezTo>
                    <a:pt x="9873" y="370478"/>
                    <a:pt x="0" y="360606"/>
                    <a:pt x="0" y="348427"/>
                  </a:cubicBezTo>
                  <a:lnTo>
                    <a:pt x="0" y="22051"/>
                  </a:lnTo>
                  <a:cubicBezTo>
                    <a:pt x="0" y="9873"/>
                    <a:pt x="9873" y="0"/>
                    <a:pt x="22051" y="0"/>
                  </a:cubicBezTo>
                  <a:close/>
                </a:path>
              </a:pathLst>
            </a:custGeom>
            <a:solidFill>
              <a:srgbClr val="18899D"/>
            </a:solidFill>
          </p:spPr>
        </p:sp>
        <p:sp>
          <p:nvSpPr>
            <p:cNvPr name="TextBox 13" id="13"/>
            <p:cNvSpPr txBox="true"/>
            <p:nvPr/>
          </p:nvSpPr>
          <p:spPr>
            <a:xfrm>
              <a:off x="0" y="-38100"/>
              <a:ext cx="609661" cy="40857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9745224" y="4662033"/>
            <a:ext cx="5947162" cy="2759075"/>
          </a:xfrm>
          <a:prstGeom prst="rect">
            <a:avLst/>
          </a:prstGeom>
        </p:spPr>
        <p:txBody>
          <a:bodyPr anchor="t" rtlCol="false" tIns="0" lIns="0" bIns="0" rIns="0">
            <a:spAutoFit/>
          </a:bodyPr>
          <a:lstStyle/>
          <a:p>
            <a:pPr algn="l" marL="0" indent="0" lvl="0">
              <a:lnSpc>
                <a:spcPts val="2724"/>
              </a:lnSpc>
            </a:pPr>
            <a:r>
              <a:rPr lang="en-US" sz="2499">
                <a:solidFill>
                  <a:srgbClr val="FFFFFF"/>
                </a:solidFill>
                <a:latin typeface="TS Qamus"/>
                <a:ea typeface="TS Qamus"/>
                <a:cs typeface="TS Qamus"/>
                <a:sym typeface="TS Qamus"/>
              </a:rPr>
              <a:t>UX FEATURES</a:t>
            </a:r>
          </a:p>
          <a:p>
            <a:pPr algn="l" marL="0" indent="0" lvl="0">
              <a:lnSpc>
                <a:spcPts val="2724"/>
              </a:lnSpc>
            </a:pPr>
            <a:r>
              <a:rPr lang="en-US" sz="2499">
                <a:solidFill>
                  <a:srgbClr val="FFFFFF"/>
                </a:solidFill>
                <a:latin typeface="TS Qamus"/>
                <a:ea typeface="TS Qamus"/>
                <a:cs typeface="TS Qamus"/>
                <a:sym typeface="TS Qamus"/>
              </a:rPr>
              <a:t>• Easy Time Setting</a:t>
            </a:r>
          </a:p>
          <a:p>
            <a:pPr algn="l" marL="0" indent="0" lvl="0">
              <a:lnSpc>
                <a:spcPts val="2724"/>
              </a:lnSpc>
            </a:pPr>
            <a:r>
              <a:rPr lang="en-US" sz="2499">
                <a:solidFill>
                  <a:srgbClr val="FFFFFF"/>
                </a:solidFill>
                <a:latin typeface="TS Qamus"/>
                <a:ea typeface="TS Qamus"/>
                <a:cs typeface="TS Qamus"/>
                <a:sym typeface="TS Qamus"/>
              </a:rPr>
              <a:t>• Multiple Alarm Support</a:t>
            </a:r>
          </a:p>
          <a:p>
            <a:pPr algn="l" marL="0" indent="0" lvl="0">
              <a:lnSpc>
                <a:spcPts val="2724"/>
              </a:lnSpc>
            </a:pPr>
            <a:r>
              <a:rPr lang="en-US" sz="2499">
                <a:solidFill>
                  <a:srgbClr val="FFFFFF"/>
                </a:solidFill>
                <a:latin typeface="TS Qamus"/>
                <a:ea typeface="TS Qamus"/>
                <a:cs typeface="TS Qamus"/>
                <a:sym typeface="TS Qamus"/>
              </a:rPr>
              <a:t>• World Clock View</a:t>
            </a:r>
          </a:p>
          <a:p>
            <a:pPr algn="l" marL="0" indent="0" lvl="0">
              <a:lnSpc>
                <a:spcPts val="2724"/>
              </a:lnSpc>
            </a:pPr>
            <a:r>
              <a:rPr lang="en-US" sz="2499">
                <a:solidFill>
                  <a:srgbClr val="FFFFFF"/>
                </a:solidFill>
                <a:latin typeface="TS Qamus"/>
                <a:ea typeface="TS Qamus"/>
                <a:cs typeface="TS Qamus"/>
                <a:sym typeface="TS Qamus"/>
              </a:rPr>
              <a:t>• Intuitive Stopwatch</a:t>
            </a:r>
          </a:p>
          <a:p>
            <a:pPr algn="l" marL="0" indent="0" lvl="0">
              <a:lnSpc>
                <a:spcPts val="2724"/>
              </a:lnSpc>
            </a:pPr>
            <a:r>
              <a:rPr lang="en-US" sz="2499">
                <a:solidFill>
                  <a:srgbClr val="FFFFFF"/>
                </a:solidFill>
                <a:latin typeface="TS Qamus"/>
                <a:ea typeface="TS Qamus"/>
                <a:cs typeface="TS Qamus"/>
                <a:sym typeface="TS Qamus"/>
              </a:rPr>
              <a:t>• One-tap Timer Start</a:t>
            </a:r>
          </a:p>
          <a:p>
            <a:pPr algn="l" marL="0" indent="0" lvl="0">
              <a:lnSpc>
                <a:spcPts val="2724"/>
              </a:lnSpc>
            </a:pPr>
            <a:r>
              <a:rPr lang="en-US" sz="2499">
                <a:solidFill>
                  <a:srgbClr val="FFFFFF"/>
                </a:solidFill>
                <a:latin typeface="TS Qamus"/>
                <a:ea typeface="TS Qamus"/>
                <a:cs typeface="TS Qamus"/>
                <a:sym typeface="TS Qamus"/>
              </a:rPr>
              <a:t>• Clear Visual Hierarchy</a:t>
            </a:r>
          </a:p>
          <a:p>
            <a:pPr algn="l" marL="0" indent="0" lvl="0">
              <a:lnSpc>
                <a:spcPts val="2724"/>
              </a:lnSpc>
            </a:pPr>
            <a:r>
              <a:rPr lang="en-US" sz="2499">
                <a:solidFill>
                  <a:srgbClr val="FFFFFF"/>
                </a:solidFill>
                <a:latin typeface="TS Qamus"/>
                <a:ea typeface="TS Qamus"/>
                <a:cs typeface="TS Qamus"/>
                <a:sym typeface="TS Qamus"/>
              </a:rPr>
              <a:t>• Minimal &amp; Clean Layout</a:t>
            </a:r>
          </a:p>
        </p:txBody>
      </p:sp>
      <p:sp>
        <p:nvSpPr>
          <p:cNvPr name="Freeform 15" id="15"/>
          <p:cNvSpPr/>
          <p:nvPr/>
        </p:nvSpPr>
        <p:spPr>
          <a:xfrm flipH="false" flipV="false" rot="0">
            <a:off x="4675586"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272000" y="3139694"/>
            <a:ext cx="893610" cy="893610"/>
          </a:xfrm>
          <a:custGeom>
            <a:avLst/>
            <a:gdLst/>
            <a:ahLst/>
            <a:cxnLst/>
            <a:rect r="r" b="b" t="t" l="l"/>
            <a:pathLst>
              <a:path h="893610" w="893610">
                <a:moveTo>
                  <a:pt x="0" y="0"/>
                </a:moveTo>
                <a:lnTo>
                  <a:pt x="893609" y="0"/>
                </a:lnTo>
                <a:lnTo>
                  <a:pt x="893609" y="893610"/>
                </a:lnTo>
                <a:lnTo>
                  <a:pt x="0" y="89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47595" y="3544801"/>
            <a:ext cx="13753654" cy="1452028"/>
            <a:chOff x="0" y="0"/>
            <a:chExt cx="1222804" cy="129096"/>
          </a:xfrm>
        </p:grpSpPr>
        <p:sp>
          <p:nvSpPr>
            <p:cNvPr name="Freeform 3" id="3"/>
            <p:cNvSpPr/>
            <p:nvPr/>
          </p:nvSpPr>
          <p:spPr>
            <a:xfrm flipH="false" flipV="false" rot="0">
              <a:off x="0" y="0"/>
              <a:ext cx="1222804" cy="129096"/>
            </a:xfrm>
            <a:custGeom>
              <a:avLst/>
              <a:gdLst/>
              <a:ahLst/>
              <a:cxnLst/>
              <a:rect r="r" b="b" t="t" l="l"/>
              <a:pathLst>
                <a:path h="129096" w="1222804">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4" id="4"/>
            <p:cNvSpPr txBox="true"/>
            <p:nvPr/>
          </p:nvSpPr>
          <p:spPr>
            <a:xfrm>
              <a:off x="0" y="-38100"/>
              <a:ext cx="1222804" cy="16719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976175" y="3748527"/>
            <a:ext cx="12296495" cy="788308"/>
          </a:xfrm>
          <a:prstGeom prst="rect">
            <a:avLst/>
          </a:prstGeom>
        </p:spPr>
        <p:txBody>
          <a:bodyPr anchor="t" rtlCol="false" tIns="0" lIns="0" bIns="0" rIns="0">
            <a:spAutoFit/>
          </a:bodyPr>
          <a:lstStyle/>
          <a:p>
            <a:pPr algn="just" marL="0" indent="0" lvl="0">
              <a:lnSpc>
                <a:spcPts val="2052"/>
              </a:lnSpc>
            </a:pPr>
            <a:r>
              <a:rPr lang="en-US" sz="1883">
                <a:solidFill>
                  <a:srgbClr val="FFFFFF"/>
                </a:solidFill>
                <a:latin typeface="TS Qamus"/>
                <a:ea typeface="TS Qamus"/>
                <a:cs typeface="TS Qamus"/>
                <a:sym typeface="TS Qamus"/>
              </a:rPr>
              <a:t>Navigation Systems: Twitter uses bottom tab bar (Home, Search, Notifications, Messages), YouTube uses bottom nav + hamburger drawer, Chrome uses top address bar with tab switcher, Calculator &amp; Clock use minimal single-screen layouts with no navigation needed.</a:t>
            </a:r>
          </a:p>
        </p:txBody>
      </p:sp>
      <p:sp>
        <p:nvSpPr>
          <p:cNvPr name="TextBox 10" id="10"/>
          <p:cNvSpPr txBox="true"/>
          <p:nvPr/>
        </p:nvSpPr>
        <p:spPr>
          <a:xfrm rot="0">
            <a:off x="3955689" y="1085850"/>
            <a:ext cx="10376622" cy="2041594"/>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COMMON UI PATTERNS</a:t>
            </a:r>
          </a:p>
        </p:txBody>
      </p:sp>
      <p:grpSp>
        <p:nvGrpSpPr>
          <p:cNvPr name="Group 11" id="11"/>
          <p:cNvGrpSpPr/>
          <p:nvPr/>
        </p:nvGrpSpPr>
        <p:grpSpPr>
          <a:xfrm rot="0">
            <a:off x="2247595" y="5143500"/>
            <a:ext cx="13753654" cy="1452028"/>
            <a:chOff x="0" y="0"/>
            <a:chExt cx="1222804" cy="129096"/>
          </a:xfrm>
        </p:grpSpPr>
        <p:sp>
          <p:nvSpPr>
            <p:cNvPr name="Freeform 12" id="12"/>
            <p:cNvSpPr/>
            <p:nvPr/>
          </p:nvSpPr>
          <p:spPr>
            <a:xfrm flipH="false" flipV="false" rot="0">
              <a:off x="0" y="0"/>
              <a:ext cx="1222804" cy="129096"/>
            </a:xfrm>
            <a:custGeom>
              <a:avLst/>
              <a:gdLst/>
              <a:ahLst/>
              <a:cxnLst/>
              <a:rect r="r" b="b" t="t" l="l"/>
              <a:pathLst>
                <a:path h="129096" w="1222804">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13" id="13"/>
            <p:cNvSpPr txBox="true"/>
            <p:nvPr/>
          </p:nvSpPr>
          <p:spPr>
            <a:xfrm>
              <a:off x="0" y="-38100"/>
              <a:ext cx="1222804" cy="16719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2976175" y="5347227"/>
            <a:ext cx="12296495" cy="788308"/>
          </a:xfrm>
          <a:prstGeom prst="rect">
            <a:avLst/>
          </a:prstGeom>
        </p:spPr>
        <p:txBody>
          <a:bodyPr anchor="t" rtlCol="false" tIns="0" lIns="0" bIns="0" rIns="0">
            <a:spAutoFit/>
          </a:bodyPr>
          <a:lstStyle/>
          <a:p>
            <a:pPr algn="just" marL="0" indent="0" lvl="0">
              <a:lnSpc>
                <a:spcPts val="2052"/>
              </a:lnSpc>
            </a:pPr>
            <a:r>
              <a:rPr lang="en-US" sz="1883">
                <a:solidFill>
                  <a:srgbClr val="FFFFFF"/>
                </a:solidFill>
                <a:latin typeface="TS Qamus"/>
                <a:ea typeface="TS Qamus"/>
                <a:cs typeface="TS Qamus"/>
                <a:sym typeface="TS Qamus"/>
              </a:rPr>
              <a:t>Input Controls: Twitter &amp; YouTube use search bars, text fields, and icon buttons. Chrome features an omnibar combining search + URL input. Calculator uses a grid of numeric &amp; operator buttons. Clock uses toggle switches, dropdowns, and time pickers for alarms and timers.</a:t>
            </a:r>
          </a:p>
        </p:txBody>
      </p:sp>
      <p:grpSp>
        <p:nvGrpSpPr>
          <p:cNvPr name="Group 15" id="15"/>
          <p:cNvGrpSpPr/>
          <p:nvPr/>
        </p:nvGrpSpPr>
        <p:grpSpPr>
          <a:xfrm rot="0">
            <a:off x="2247595" y="6742199"/>
            <a:ext cx="13753654" cy="1452028"/>
            <a:chOff x="0" y="0"/>
            <a:chExt cx="1222804" cy="129096"/>
          </a:xfrm>
        </p:grpSpPr>
        <p:sp>
          <p:nvSpPr>
            <p:cNvPr name="Freeform 16" id="16"/>
            <p:cNvSpPr/>
            <p:nvPr/>
          </p:nvSpPr>
          <p:spPr>
            <a:xfrm flipH="false" flipV="false" rot="0">
              <a:off x="0" y="0"/>
              <a:ext cx="1222804" cy="129096"/>
            </a:xfrm>
            <a:custGeom>
              <a:avLst/>
              <a:gdLst/>
              <a:ahLst/>
              <a:cxnLst/>
              <a:rect r="r" b="b" t="t" l="l"/>
              <a:pathLst>
                <a:path h="129096" w="1222804">
                  <a:moveTo>
                    <a:pt x="10994" y="0"/>
                  </a:moveTo>
                  <a:lnTo>
                    <a:pt x="1211810" y="0"/>
                  </a:lnTo>
                  <a:cubicBezTo>
                    <a:pt x="1214726" y="0"/>
                    <a:pt x="1217522" y="1158"/>
                    <a:pt x="1219584" y="3220"/>
                  </a:cubicBezTo>
                  <a:cubicBezTo>
                    <a:pt x="1221646" y="5282"/>
                    <a:pt x="1222804" y="8078"/>
                    <a:pt x="1222804" y="10994"/>
                  </a:cubicBezTo>
                  <a:lnTo>
                    <a:pt x="1222804" y="118102"/>
                  </a:lnTo>
                  <a:cubicBezTo>
                    <a:pt x="1222804" y="124174"/>
                    <a:pt x="1217882" y="129096"/>
                    <a:pt x="1211810" y="129096"/>
                  </a:cubicBezTo>
                  <a:lnTo>
                    <a:pt x="10994" y="129096"/>
                  </a:lnTo>
                  <a:cubicBezTo>
                    <a:pt x="8078" y="129096"/>
                    <a:pt x="5282" y="127938"/>
                    <a:pt x="3220" y="125876"/>
                  </a:cubicBezTo>
                  <a:cubicBezTo>
                    <a:pt x="1158" y="123814"/>
                    <a:pt x="0" y="121018"/>
                    <a:pt x="0" y="118102"/>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17" id="17"/>
            <p:cNvSpPr txBox="true"/>
            <p:nvPr/>
          </p:nvSpPr>
          <p:spPr>
            <a:xfrm>
              <a:off x="0" y="-38100"/>
              <a:ext cx="1222804" cy="16719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976175" y="6945926"/>
            <a:ext cx="12296495" cy="1045483"/>
          </a:xfrm>
          <a:prstGeom prst="rect">
            <a:avLst/>
          </a:prstGeom>
        </p:spPr>
        <p:txBody>
          <a:bodyPr anchor="t" rtlCol="false" tIns="0" lIns="0" bIns="0" rIns="0">
            <a:spAutoFit/>
          </a:bodyPr>
          <a:lstStyle/>
          <a:p>
            <a:pPr algn="just" marL="0" indent="0" lvl="0">
              <a:lnSpc>
                <a:spcPts val="2052"/>
              </a:lnSpc>
            </a:pPr>
            <a:r>
              <a:rPr lang="en-US" sz="1883">
                <a:solidFill>
                  <a:srgbClr val="FFFFFF"/>
                </a:solidFill>
                <a:latin typeface="TS Qamus"/>
                <a:ea typeface="TS Qamus"/>
                <a:cs typeface="TS Qamus"/>
                <a:sym typeface="TS Qamus"/>
              </a:rPr>
              <a:t>Feedback Mechanisms: Twitter shows like animations, retweet counters &amp; toast notifications. YouTube uses progress bars, buffering spinners &amp; thumbs-up feedback. Chrome shows loading indicators &amp; security icons. Calculator gives haptic/audio feedback on key press; Clock uses sound &amp; vibration alerts.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684799"/>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85969" y="1082294"/>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96216" y="4703849"/>
            <a:ext cx="5583840" cy="3253071"/>
          </a:xfrm>
          <a:prstGeom prst="rect">
            <a:avLst/>
          </a:prstGeom>
        </p:spPr>
        <p:txBody>
          <a:bodyPr anchor="t" rtlCol="false" tIns="0" lIns="0" bIns="0" rIns="0">
            <a:spAutoFit/>
          </a:bodyPr>
          <a:lstStyle/>
          <a:p>
            <a:pPr algn="just" marL="0" indent="0" lvl="0">
              <a:lnSpc>
                <a:spcPts val="2623"/>
              </a:lnSpc>
            </a:pPr>
            <a:r>
              <a:rPr lang="en-US" sz="2406">
                <a:solidFill>
                  <a:srgbClr val="18899D"/>
                </a:solidFill>
                <a:latin typeface="TS Qamus"/>
                <a:ea typeface="TS Qamus"/>
                <a:cs typeface="TS Qamus"/>
                <a:sym typeface="TS Qamus"/>
              </a:rPr>
              <a:t>Consistency &amp; Familiarity</a:t>
            </a:r>
          </a:p>
          <a:p>
            <a:pPr algn="just" marL="0" indent="0" lvl="0">
              <a:lnSpc>
                <a:spcPts val="2623"/>
              </a:lnSpc>
            </a:pPr>
            <a:r>
              <a:rPr lang="en-US" sz="2406">
                <a:solidFill>
                  <a:srgbClr val="18899D"/>
                </a:solidFill>
                <a:latin typeface="TS Qamus"/>
                <a:ea typeface="TS Qamus"/>
                <a:cs typeface="TS Qamus"/>
                <a:sym typeface="TS Qamus"/>
              </a:rPr>
              <a:t>Successful platforms like Twitter, YouTube, and Chrome maintain consistent UI patterns across their interfaces. Familiar icons, predictable navigation, and uniform color schemes reduce cognitive load, helping users interact confidently without relearning each screen.</a:t>
            </a:r>
          </a:p>
        </p:txBody>
      </p:sp>
      <p:sp>
        <p:nvSpPr>
          <p:cNvPr name="TextBox 7" id="7"/>
          <p:cNvSpPr txBox="true"/>
          <p:nvPr/>
        </p:nvSpPr>
        <p:spPr>
          <a:xfrm rot="0">
            <a:off x="3955689" y="1085850"/>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UX PRINCIPLES</a:t>
            </a:r>
          </a:p>
        </p:txBody>
      </p:sp>
      <p:sp>
        <p:nvSpPr>
          <p:cNvPr name="TextBox 8" id="8"/>
          <p:cNvSpPr txBox="true"/>
          <p:nvPr/>
        </p:nvSpPr>
        <p:spPr>
          <a:xfrm rot="0">
            <a:off x="9407945" y="4703849"/>
            <a:ext cx="5583840" cy="3253071"/>
          </a:xfrm>
          <a:prstGeom prst="rect">
            <a:avLst/>
          </a:prstGeom>
        </p:spPr>
        <p:txBody>
          <a:bodyPr anchor="t" rtlCol="false" tIns="0" lIns="0" bIns="0" rIns="0">
            <a:spAutoFit/>
          </a:bodyPr>
          <a:lstStyle/>
          <a:p>
            <a:pPr algn="just" marL="0" indent="0" lvl="0">
              <a:lnSpc>
                <a:spcPts val="2623"/>
              </a:lnSpc>
            </a:pPr>
            <a:r>
              <a:rPr lang="en-US" sz="2406">
                <a:solidFill>
                  <a:srgbClr val="18899D"/>
                </a:solidFill>
                <a:latin typeface="TS Qamus"/>
                <a:ea typeface="TS Qamus"/>
                <a:cs typeface="TS Qamus"/>
                <a:sym typeface="TS Qamus"/>
              </a:rPr>
              <a:t>User-Centered Design</a:t>
            </a:r>
          </a:p>
          <a:p>
            <a:pPr algn="just" marL="0" indent="0" lvl="0">
              <a:lnSpc>
                <a:spcPts val="2623"/>
              </a:lnSpc>
            </a:pPr>
            <a:r>
              <a:rPr lang="en-US" sz="2406">
                <a:solidFill>
                  <a:srgbClr val="18899D"/>
                </a:solidFill>
                <a:latin typeface="TS Qamus"/>
                <a:ea typeface="TS Qamus"/>
                <a:cs typeface="TS Qamus"/>
                <a:sym typeface="TS Qamus"/>
              </a:rPr>
              <a:t>Apps like the Calculator and Clock prioritize intuitive, task-focused interactions. Clear visual hierarchy, accessible touch targets, and minimal distractions ensure users can accomplish goals quickly. Every element serves a purpose, placing the user's needs at the core of all design decisions.</a:t>
            </a:r>
          </a:p>
        </p:txBody>
      </p:sp>
      <p:sp>
        <p:nvSpPr>
          <p:cNvPr name="TextBox 9" id="9"/>
          <p:cNvSpPr txBox="true"/>
          <p:nvPr/>
        </p:nvSpPr>
        <p:spPr>
          <a:xfrm rot="0">
            <a:off x="5218565" y="3601951"/>
            <a:ext cx="1739141" cy="1042905"/>
          </a:xfrm>
          <a:prstGeom prst="rect">
            <a:avLst/>
          </a:prstGeom>
        </p:spPr>
        <p:txBody>
          <a:bodyPr anchor="t" rtlCol="false" tIns="0" lIns="0" bIns="0" rIns="0">
            <a:spAutoFit/>
          </a:bodyPr>
          <a:lstStyle/>
          <a:p>
            <a:pPr algn="ctr" marL="0" indent="0" lvl="0">
              <a:lnSpc>
                <a:spcPts val="7909"/>
              </a:lnSpc>
            </a:pPr>
          </a:p>
        </p:txBody>
      </p:sp>
      <p:sp>
        <p:nvSpPr>
          <p:cNvPr name="TextBox 10" id="10"/>
          <p:cNvSpPr txBox="true"/>
          <p:nvPr/>
        </p:nvSpPr>
        <p:spPr>
          <a:xfrm rot="0">
            <a:off x="11330294" y="3601951"/>
            <a:ext cx="1739141" cy="1042905"/>
          </a:xfrm>
          <a:prstGeom prst="rect">
            <a:avLst/>
          </a:prstGeom>
        </p:spPr>
        <p:txBody>
          <a:bodyPr anchor="t" rtlCol="false" tIns="0" lIns="0" bIns="0" rIns="0">
            <a:spAutoFit/>
          </a:bodyPr>
          <a:lstStyle/>
          <a:p>
            <a:pPr algn="ctr" marL="0" indent="0" lvl="0">
              <a:lnSpc>
                <a:spcPts val="790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516101" cy="2516101"/>
          </a:xfrm>
          <a:custGeom>
            <a:avLst/>
            <a:gdLst/>
            <a:ahLst/>
            <a:cxnLst/>
            <a:rect r="r" b="b" t="t" l="l"/>
            <a:pathLst>
              <a:path h="2516101" w="2516101">
                <a:moveTo>
                  <a:pt x="0" y="0"/>
                </a:moveTo>
                <a:lnTo>
                  <a:pt x="2516101" y="0"/>
                </a:lnTo>
                <a:lnTo>
                  <a:pt x="2516101" y="2516101"/>
                </a:lnTo>
                <a:lnTo>
                  <a:pt x="0" y="25161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36111" y="1790793"/>
            <a:ext cx="10376622" cy="1042905"/>
          </a:xfrm>
          <a:prstGeom prst="rect">
            <a:avLst/>
          </a:prstGeom>
        </p:spPr>
        <p:txBody>
          <a:bodyPr anchor="t" rtlCol="false" tIns="0" lIns="0" bIns="0" rIns="0">
            <a:spAutoFit/>
          </a:bodyPr>
          <a:lstStyle/>
          <a:p>
            <a:pPr algn="ctr" marL="0" indent="0" lvl="0">
              <a:lnSpc>
                <a:spcPts val="7909"/>
              </a:lnSpc>
            </a:pPr>
            <a:r>
              <a:rPr lang="en-US" b="true" sz="7255">
                <a:solidFill>
                  <a:srgbClr val="18899D"/>
                </a:solidFill>
                <a:latin typeface="TS Qamus Bold"/>
                <a:ea typeface="TS Qamus Bold"/>
                <a:cs typeface="TS Qamus Bold"/>
                <a:sym typeface="TS Qamus Bold"/>
              </a:rPr>
              <a:t>CONCLUSION</a:t>
            </a:r>
          </a:p>
        </p:txBody>
      </p:sp>
      <p:grpSp>
        <p:nvGrpSpPr>
          <p:cNvPr name="Group 4" id="4"/>
          <p:cNvGrpSpPr/>
          <p:nvPr/>
        </p:nvGrpSpPr>
        <p:grpSpPr>
          <a:xfrm rot="0">
            <a:off x="2247595" y="3544801"/>
            <a:ext cx="13753654" cy="4064600"/>
            <a:chOff x="0" y="0"/>
            <a:chExt cx="1222804" cy="361374"/>
          </a:xfrm>
        </p:grpSpPr>
        <p:sp>
          <p:nvSpPr>
            <p:cNvPr name="Freeform 5" id="5"/>
            <p:cNvSpPr/>
            <p:nvPr/>
          </p:nvSpPr>
          <p:spPr>
            <a:xfrm flipH="false" flipV="false" rot="0">
              <a:off x="0" y="0"/>
              <a:ext cx="1222804" cy="361374"/>
            </a:xfrm>
            <a:custGeom>
              <a:avLst/>
              <a:gdLst/>
              <a:ahLst/>
              <a:cxnLst/>
              <a:rect r="r" b="b" t="t" l="l"/>
              <a:pathLst>
                <a:path h="361374" w="1222804">
                  <a:moveTo>
                    <a:pt x="10994" y="0"/>
                  </a:moveTo>
                  <a:lnTo>
                    <a:pt x="1211810" y="0"/>
                  </a:lnTo>
                  <a:cubicBezTo>
                    <a:pt x="1214726" y="0"/>
                    <a:pt x="1217522" y="1158"/>
                    <a:pt x="1219584" y="3220"/>
                  </a:cubicBezTo>
                  <a:cubicBezTo>
                    <a:pt x="1221646" y="5282"/>
                    <a:pt x="1222804" y="8078"/>
                    <a:pt x="1222804" y="10994"/>
                  </a:cubicBezTo>
                  <a:lnTo>
                    <a:pt x="1222804" y="350380"/>
                  </a:lnTo>
                  <a:cubicBezTo>
                    <a:pt x="1222804" y="353295"/>
                    <a:pt x="1221646" y="356092"/>
                    <a:pt x="1219584" y="358154"/>
                  </a:cubicBezTo>
                  <a:cubicBezTo>
                    <a:pt x="1217522" y="360215"/>
                    <a:pt x="1214726" y="361374"/>
                    <a:pt x="1211810" y="361374"/>
                  </a:cubicBezTo>
                  <a:lnTo>
                    <a:pt x="10994" y="361374"/>
                  </a:lnTo>
                  <a:cubicBezTo>
                    <a:pt x="8078" y="361374"/>
                    <a:pt x="5282" y="360215"/>
                    <a:pt x="3220" y="358154"/>
                  </a:cubicBezTo>
                  <a:cubicBezTo>
                    <a:pt x="1158" y="356092"/>
                    <a:pt x="0" y="353295"/>
                    <a:pt x="0" y="350380"/>
                  </a:cubicBezTo>
                  <a:lnTo>
                    <a:pt x="0" y="10994"/>
                  </a:lnTo>
                  <a:cubicBezTo>
                    <a:pt x="0" y="8078"/>
                    <a:pt x="1158" y="5282"/>
                    <a:pt x="3220" y="3220"/>
                  </a:cubicBezTo>
                  <a:cubicBezTo>
                    <a:pt x="5282" y="1158"/>
                    <a:pt x="8078" y="0"/>
                    <a:pt x="10994" y="0"/>
                  </a:cubicBezTo>
                  <a:close/>
                </a:path>
              </a:pathLst>
            </a:custGeom>
            <a:solidFill>
              <a:srgbClr val="18899D"/>
            </a:solidFill>
          </p:spPr>
        </p:sp>
        <p:sp>
          <p:nvSpPr>
            <p:cNvPr name="TextBox 6" id="6"/>
            <p:cNvSpPr txBox="true"/>
            <p:nvPr/>
          </p:nvSpPr>
          <p:spPr>
            <a:xfrm>
              <a:off x="0" y="-38100"/>
              <a:ext cx="1222804" cy="3994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2631463" y="4026113"/>
            <a:ext cx="13025075" cy="2973189"/>
          </a:xfrm>
          <a:prstGeom prst="rect">
            <a:avLst/>
          </a:prstGeom>
        </p:spPr>
        <p:txBody>
          <a:bodyPr anchor="t" rtlCol="false" tIns="0" lIns="0" bIns="0" rIns="0">
            <a:spAutoFit/>
          </a:bodyPr>
          <a:lstStyle/>
          <a:p>
            <a:pPr algn="just" marL="0" indent="0" lvl="0">
              <a:lnSpc>
                <a:spcPts val="2337"/>
              </a:lnSpc>
            </a:pPr>
            <a:r>
              <a:rPr lang="en-US" sz="2144">
                <a:solidFill>
                  <a:srgbClr val="FFFFFF"/>
                </a:solidFill>
                <a:latin typeface="TS Qamus"/>
                <a:ea typeface="TS Qamus"/>
                <a:cs typeface="TS Qamus"/>
                <a:sym typeface="TS Qamus"/>
              </a:rPr>
              <a:t>Understanding UI elements and UX principles is fundamental to designing and evaluating digital products effectively. By analyzing apps like Twitter, Chrome, YouTube, Calculator, and Clock, we gain practical insight into how thoughtful design decisions — from navigation bars and icon systems to typography and color — shape user behavior and satisfaction. Each app demonstrates how consistent UI patterns and intuitive UX flows reduce cognitive load and improve usability. Recognizing these elements empowers designers and developers to build more accessible, efficient, and enjoyable digital experiences. Great UX is not accidental — it is the result of careful observation, user-centered thinking, and iterative design. The principles explored across these applications serve as a strong foundation for creating interfaces that are not only functional but also delightful to use.</a:t>
            </a:r>
          </a:p>
        </p:txBody>
      </p:sp>
      <p:sp>
        <p:nvSpPr>
          <p:cNvPr name="Freeform 8" id="8"/>
          <p:cNvSpPr/>
          <p:nvPr/>
        </p:nvSpPr>
        <p:spPr>
          <a:xfrm flipH="true" flipV="true" rot="0">
            <a:off x="14743199" y="6742199"/>
            <a:ext cx="2516101" cy="2516101"/>
          </a:xfrm>
          <a:custGeom>
            <a:avLst/>
            <a:gdLst/>
            <a:ahLst/>
            <a:cxnLst/>
            <a:rect r="r" b="b" t="t" l="l"/>
            <a:pathLst>
              <a:path h="2516101" w="2516101">
                <a:moveTo>
                  <a:pt x="2516101" y="2516101"/>
                </a:moveTo>
                <a:lnTo>
                  <a:pt x="0" y="2516101"/>
                </a:lnTo>
                <a:lnTo>
                  <a:pt x="0" y="0"/>
                </a:lnTo>
                <a:lnTo>
                  <a:pt x="2516101" y="0"/>
                </a:lnTo>
                <a:lnTo>
                  <a:pt x="2516101"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4743199" y="1028700"/>
            <a:ext cx="2516101" cy="2516101"/>
          </a:xfrm>
          <a:custGeom>
            <a:avLst/>
            <a:gdLst/>
            <a:ahLst/>
            <a:cxnLst/>
            <a:rect r="r" b="b" t="t" l="l"/>
            <a:pathLst>
              <a:path h="2516101" w="2516101">
                <a:moveTo>
                  <a:pt x="2516101" y="0"/>
                </a:moveTo>
                <a:lnTo>
                  <a:pt x="0" y="0"/>
                </a:lnTo>
                <a:lnTo>
                  <a:pt x="0" y="2516101"/>
                </a:lnTo>
                <a:lnTo>
                  <a:pt x="2516101" y="2516101"/>
                </a:lnTo>
                <a:lnTo>
                  <a:pt x="25161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028700" y="6678599"/>
            <a:ext cx="2516101" cy="2516101"/>
          </a:xfrm>
          <a:custGeom>
            <a:avLst/>
            <a:gdLst/>
            <a:ahLst/>
            <a:cxnLst/>
            <a:rect r="r" b="b" t="t" l="l"/>
            <a:pathLst>
              <a:path h="2516101" w="2516101">
                <a:moveTo>
                  <a:pt x="0" y="2516101"/>
                </a:moveTo>
                <a:lnTo>
                  <a:pt x="2516101" y="2516101"/>
                </a:lnTo>
                <a:lnTo>
                  <a:pt x="2516101" y="0"/>
                </a:lnTo>
                <a:lnTo>
                  <a:pt x="0" y="0"/>
                </a:lnTo>
                <a:lnTo>
                  <a:pt x="0" y="2516101"/>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8729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77411" y="4167160"/>
            <a:ext cx="11533177" cy="1667152"/>
          </a:xfrm>
          <a:prstGeom prst="rect">
            <a:avLst/>
          </a:prstGeom>
        </p:spPr>
        <p:txBody>
          <a:bodyPr anchor="t" rtlCol="false" tIns="0" lIns="0" bIns="0" rIns="0">
            <a:spAutoFit/>
          </a:bodyPr>
          <a:lstStyle/>
          <a:p>
            <a:pPr algn="ctr" marL="0" indent="0" lvl="0">
              <a:lnSpc>
                <a:spcPts val="12876"/>
              </a:lnSpc>
            </a:pPr>
            <a:r>
              <a:rPr lang="en-US" b="true" sz="11813">
                <a:solidFill>
                  <a:srgbClr val="18899D"/>
                </a:solidFill>
                <a:latin typeface="TS Qamus Bold"/>
                <a:ea typeface="TS Qamus Bold"/>
                <a:cs typeface="TS Qamus Bold"/>
                <a:sym typeface="TS Qamus Bold"/>
              </a:rPr>
              <a:t>THANK YOU!</a:t>
            </a:r>
          </a:p>
        </p:txBody>
      </p:sp>
      <p:sp>
        <p:nvSpPr>
          <p:cNvPr name="TextBox 4" id="4"/>
          <p:cNvSpPr txBox="true"/>
          <p:nvPr/>
        </p:nvSpPr>
        <p:spPr>
          <a:xfrm rot="0">
            <a:off x="4449213" y="5882443"/>
            <a:ext cx="9389573" cy="615640"/>
          </a:xfrm>
          <a:prstGeom prst="rect">
            <a:avLst/>
          </a:prstGeom>
        </p:spPr>
        <p:txBody>
          <a:bodyPr anchor="t" rtlCol="false" tIns="0" lIns="0" bIns="0" rIns="0">
            <a:spAutoFit/>
          </a:bodyPr>
          <a:lstStyle/>
          <a:p>
            <a:pPr algn="ctr" marL="0" indent="0" lvl="0">
              <a:lnSpc>
                <a:spcPts val="4685"/>
              </a:lnSpc>
            </a:pPr>
            <a:r>
              <a:rPr lang="en-US" sz="4298">
                <a:solidFill>
                  <a:srgbClr val="18899D"/>
                </a:solidFill>
                <a:latin typeface="TS Qamus"/>
                <a:ea typeface="TS Qamus"/>
                <a:cs typeface="TS Qamus"/>
                <a:sym typeface="TS Qamus"/>
              </a:rPr>
              <a:t>Questions about UI/UX Analysis?</a:t>
            </a:r>
          </a:p>
        </p:txBody>
      </p:sp>
      <p:sp>
        <p:nvSpPr>
          <p:cNvPr name="Freeform 5" id="5"/>
          <p:cNvSpPr/>
          <p:nvPr/>
        </p:nvSpPr>
        <p:spPr>
          <a:xfrm flipH="true" flipV="true" rot="0">
            <a:off x="13144500" y="4943839"/>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865987" y="8357346"/>
            <a:ext cx="7315200" cy="2673373"/>
          </a:xfrm>
          <a:custGeom>
            <a:avLst/>
            <a:gdLst/>
            <a:ahLst/>
            <a:cxnLst/>
            <a:rect r="r" b="b" t="t" l="l"/>
            <a:pathLst>
              <a:path h="2673373" w="7315200">
                <a:moveTo>
                  <a:pt x="0" y="0"/>
                </a:moveTo>
                <a:lnTo>
                  <a:pt x="7315200" y="0"/>
                </a:lnTo>
                <a:lnTo>
                  <a:pt x="7315200" y="2673373"/>
                </a:lnTo>
                <a:lnTo>
                  <a:pt x="0" y="267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144500" y="-449392"/>
            <a:ext cx="7315200" cy="2673373"/>
          </a:xfrm>
          <a:custGeom>
            <a:avLst/>
            <a:gdLst/>
            <a:ahLst/>
            <a:cxnLst/>
            <a:rect r="r" b="b" t="t" l="l"/>
            <a:pathLst>
              <a:path h="2673373" w="7315200">
                <a:moveTo>
                  <a:pt x="0" y="0"/>
                </a:moveTo>
                <a:lnTo>
                  <a:pt x="7315200" y="0"/>
                </a:lnTo>
                <a:lnTo>
                  <a:pt x="7315200" y="2673374"/>
                </a:lnTo>
                <a:lnTo>
                  <a:pt x="0" y="267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377411" y="8765271"/>
            <a:ext cx="2143604" cy="986058"/>
          </a:xfrm>
          <a:custGeom>
            <a:avLst/>
            <a:gdLst/>
            <a:ahLst/>
            <a:cxnLst/>
            <a:rect r="r" b="b" t="t" l="l"/>
            <a:pathLst>
              <a:path h="986058" w="2143604">
                <a:moveTo>
                  <a:pt x="0" y="0"/>
                </a:moveTo>
                <a:lnTo>
                  <a:pt x="2143604" y="0"/>
                </a:lnTo>
                <a:lnTo>
                  <a:pt x="2143604" y="986058"/>
                </a:lnTo>
                <a:lnTo>
                  <a:pt x="0" y="986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12433881" y="887295"/>
            <a:ext cx="2143604" cy="986058"/>
          </a:xfrm>
          <a:custGeom>
            <a:avLst/>
            <a:gdLst/>
            <a:ahLst/>
            <a:cxnLst/>
            <a:rect r="r" b="b" t="t" l="l"/>
            <a:pathLst>
              <a:path h="986058" w="2143604">
                <a:moveTo>
                  <a:pt x="2143604" y="0"/>
                </a:moveTo>
                <a:lnTo>
                  <a:pt x="0" y="0"/>
                </a:lnTo>
                <a:lnTo>
                  <a:pt x="0" y="986058"/>
                </a:lnTo>
                <a:lnTo>
                  <a:pt x="2143604" y="986058"/>
                </a:lnTo>
                <a:lnTo>
                  <a:pt x="2143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DAHOM3EiC1o</dc:identifier>
  <dcterms:modified xsi:type="dcterms:W3CDTF">2011-08-01T06:04:30Z</dcterms:modified>
  <cp:revision>1</cp:revision>
  <dc:title>presented by Akash</dc:title>
</cp:coreProperties>
</file>